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4" r:id="rId9"/>
    <p:sldId id="269" r:id="rId10"/>
    <p:sldId id="270" r:id="rId11"/>
    <p:sldId id="263" r:id="rId12"/>
    <p:sldId id="267" r:id="rId13"/>
    <p:sldId id="272" r:id="rId14"/>
    <p:sldId id="266"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245EE1-AFBB-49A0-A0AB-53647A3CB0D3}" type="doc">
      <dgm:prSet loTypeId="urn:microsoft.com/office/officeart/2008/layout/LinedList" loCatId="list" qsTypeId="urn:microsoft.com/office/officeart/2005/8/quickstyle/simple1#63" qsCatId="simple" csTypeId="urn:microsoft.com/office/officeart/2018/5/colors/Iconchunking_neutralbg_colorful1" csCatId="colorful" phldr="1"/>
      <dgm:spPr/>
      <dgm:t>
        <a:bodyPr/>
        <a:lstStyle/>
        <a:p>
          <a:endParaRPr lang="en-US"/>
        </a:p>
      </dgm:t>
    </dgm:pt>
    <dgm:pt modelId="{A4E4B6E6-FFBB-427C-B943-5DB1084034A1}">
      <dgm:prSet/>
      <dgm:spPr/>
      <dgm:t>
        <a:bodyPr/>
        <a:lstStyle/>
        <a:p>
          <a:pPr>
            <a:lnSpc>
              <a:spcPct val="100000"/>
            </a:lnSpc>
          </a:pPr>
          <a:r>
            <a:rPr lang="en-US" dirty="0"/>
            <a:t>Domestic Waste Segregation Using Artificial Intelligence</a:t>
          </a:r>
        </a:p>
      </dgm:t>
    </dgm:pt>
    <dgm:pt modelId="{315DDDFB-374B-416F-9755-35022F70DE06}" type="parTrans" cxnId="{A813A1C2-C97E-4FE9-98CA-5D14D7D643D4}">
      <dgm:prSet/>
      <dgm:spPr/>
      <dgm:t>
        <a:bodyPr/>
        <a:lstStyle/>
        <a:p>
          <a:endParaRPr lang="en-US"/>
        </a:p>
      </dgm:t>
    </dgm:pt>
    <dgm:pt modelId="{11FDD87C-3CD0-4DD6-9E34-6AAD74126D4F}" type="sibTrans" cxnId="{A813A1C2-C97E-4FE9-98CA-5D14D7D643D4}">
      <dgm:prSet/>
      <dgm:spPr/>
      <dgm:t>
        <a:bodyPr/>
        <a:lstStyle/>
        <a:p>
          <a:endParaRPr lang="en-US"/>
        </a:p>
      </dgm:t>
    </dgm:pt>
    <dgm:pt modelId="{AEBE1C7A-A0DD-4380-8C23-F2F2D2915045}">
      <dgm:prSet/>
      <dgm:spPr/>
      <dgm:t>
        <a:bodyPr/>
        <a:lstStyle/>
        <a:p>
          <a:pPr>
            <a:lnSpc>
              <a:spcPct val="100000"/>
            </a:lnSpc>
          </a:pPr>
          <a:r>
            <a:rPr lang="en-US" dirty="0"/>
            <a:t>Team Project Presentation</a:t>
          </a:r>
        </a:p>
      </dgm:t>
    </dgm:pt>
    <dgm:pt modelId="{19670F6B-B11A-4348-B92F-F221EB61E01C}" type="parTrans" cxnId="{06BA440C-2C02-4C26-9F2B-F515FBEA4C3F}">
      <dgm:prSet/>
      <dgm:spPr/>
      <dgm:t>
        <a:bodyPr/>
        <a:lstStyle/>
        <a:p>
          <a:endParaRPr lang="en-US"/>
        </a:p>
      </dgm:t>
    </dgm:pt>
    <dgm:pt modelId="{1156AB86-0E69-42D2-AF16-FDC6C6283FE6}" type="sibTrans" cxnId="{06BA440C-2C02-4C26-9F2B-F515FBEA4C3F}">
      <dgm:prSet/>
      <dgm:spPr/>
      <dgm:t>
        <a:bodyPr/>
        <a:lstStyle/>
        <a:p>
          <a:endParaRPr lang="en-US"/>
        </a:p>
      </dgm:t>
    </dgm:pt>
    <dgm:pt modelId="{8865A27B-1BC3-497E-A4D8-427A2D0A1E17}">
      <dgm:prSet/>
      <dgm:spPr/>
      <dgm:t>
        <a:bodyPr/>
        <a:lstStyle/>
        <a:p>
          <a:pPr>
            <a:lnSpc>
              <a:spcPct val="100000"/>
            </a:lnSpc>
          </a:pPr>
          <a:r>
            <a:rPr lang="en-US" dirty="0"/>
            <a:t> Categories: </a:t>
          </a:r>
        </a:p>
        <a:p>
          <a:pPr>
            <a:lnSpc>
              <a:spcPct val="100000"/>
            </a:lnSpc>
          </a:pPr>
          <a:r>
            <a:rPr lang="en-US" dirty="0"/>
            <a:t>Biodegradable </a:t>
          </a:r>
        </a:p>
        <a:p>
          <a:pPr>
            <a:lnSpc>
              <a:spcPct val="100000"/>
            </a:lnSpc>
          </a:pPr>
          <a:r>
            <a:rPr lang="en-US" dirty="0"/>
            <a:t>And</a:t>
          </a:r>
        </a:p>
        <a:p>
          <a:pPr>
            <a:lnSpc>
              <a:spcPct val="100000"/>
            </a:lnSpc>
          </a:pPr>
          <a:r>
            <a:rPr lang="en-US" dirty="0"/>
            <a:t>Non-Biodegradable </a:t>
          </a:r>
        </a:p>
      </dgm:t>
    </dgm:pt>
    <dgm:pt modelId="{87A66D4F-8FCF-4323-82C3-F1674C8E7E38}" type="parTrans" cxnId="{2B023713-185A-4D0E-901A-88A27C10C042}">
      <dgm:prSet/>
      <dgm:spPr/>
      <dgm:t>
        <a:bodyPr/>
        <a:lstStyle/>
        <a:p>
          <a:endParaRPr lang="en-US"/>
        </a:p>
      </dgm:t>
    </dgm:pt>
    <dgm:pt modelId="{8570C055-DE99-48ED-83DE-8095838F3B3E}" type="sibTrans" cxnId="{2B023713-185A-4D0E-901A-88A27C10C042}">
      <dgm:prSet/>
      <dgm:spPr/>
      <dgm:t>
        <a:bodyPr/>
        <a:lstStyle/>
        <a:p>
          <a:endParaRPr lang="en-US"/>
        </a:p>
      </dgm:t>
    </dgm:pt>
    <dgm:pt modelId="{21099B5F-04F5-4794-93DC-1D82E4B9E24E}" type="pres">
      <dgm:prSet presAssocID="{08245EE1-AFBB-49A0-A0AB-53647A3CB0D3}" presName="vert0" presStyleCnt="0">
        <dgm:presLayoutVars>
          <dgm:dir/>
          <dgm:animOne val="branch"/>
          <dgm:animLvl val="lvl"/>
        </dgm:presLayoutVars>
      </dgm:prSet>
      <dgm:spPr/>
    </dgm:pt>
    <dgm:pt modelId="{1A8D1129-2EE4-4ED0-947E-3EBFD20579A5}" type="pres">
      <dgm:prSet presAssocID="{A4E4B6E6-FFBB-427C-B943-5DB1084034A1}" presName="thickLine" presStyleLbl="alignNode1" presStyleIdx="0" presStyleCnt="3"/>
      <dgm:spPr/>
    </dgm:pt>
    <dgm:pt modelId="{E91E8DFA-1C8B-4487-A9B0-DCD90EA9AA26}" type="pres">
      <dgm:prSet presAssocID="{A4E4B6E6-FFBB-427C-B943-5DB1084034A1}" presName="horz1" presStyleCnt="0"/>
      <dgm:spPr/>
    </dgm:pt>
    <dgm:pt modelId="{E0685D6D-B418-4A22-8A23-4293C2B4F44D}" type="pres">
      <dgm:prSet presAssocID="{A4E4B6E6-FFBB-427C-B943-5DB1084034A1}" presName="tx1" presStyleLbl="revTx" presStyleIdx="0" presStyleCnt="3"/>
      <dgm:spPr/>
    </dgm:pt>
    <dgm:pt modelId="{32673665-F95A-405C-A582-B729C4D7BC11}" type="pres">
      <dgm:prSet presAssocID="{A4E4B6E6-FFBB-427C-B943-5DB1084034A1}" presName="vert1" presStyleCnt="0"/>
      <dgm:spPr/>
    </dgm:pt>
    <dgm:pt modelId="{251F3873-BD3E-48A0-82FB-B608F55CA148}" type="pres">
      <dgm:prSet presAssocID="{AEBE1C7A-A0DD-4380-8C23-F2F2D2915045}" presName="thickLine" presStyleLbl="alignNode1" presStyleIdx="1" presStyleCnt="3"/>
      <dgm:spPr/>
    </dgm:pt>
    <dgm:pt modelId="{A0BD193F-9849-4165-A0DB-C2F25F154419}" type="pres">
      <dgm:prSet presAssocID="{AEBE1C7A-A0DD-4380-8C23-F2F2D2915045}" presName="horz1" presStyleCnt="0"/>
      <dgm:spPr/>
    </dgm:pt>
    <dgm:pt modelId="{1709DDE6-24EC-4115-9F76-1BF2E4C3C1EA}" type="pres">
      <dgm:prSet presAssocID="{AEBE1C7A-A0DD-4380-8C23-F2F2D2915045}" presName="tx1" presStyleLbl="revTx" presStyleIdx="1" presStyleCnt="3"/>
      <dgm:spPr/>
    </dgm:pt>
    <dgm:pt modelId="{C9B5B991-81D7-45A4-887B-DA8C6717F256}" type="pres">
      <dgm:prSet presAssocID="{AEBE1C7A-A0DD-4380-8C23-F2F2D2915045}" presName="vert1" presStyleCnt="0"/>
      <dgm:spPr/>
    </dgm:pt>
    <dgm:pt modelId="{C4936607-C562-4EC6-9CED-AFDB4114A30C}" type="pres">
      <dgm:prSet presAssocID="{8865A27B-1BC3-497E-A4D8-427A2D0A1E17}" presName="thickLine" presStyleLbl="alignNode1" presStyleIdx="2" presStyleCnt="3"/>
      <dgm:spPr/>
    </dgm:pt>
    <dgm:pt modelId="{060A3DC0-D683-4286-AE22-B606B88AB0E6}" type="pres">
      <dgm:prSet presAssocID="{8865A27B-1BC3-497E-A4D8-427A2D0A1E17}" presName="horz1" presStyleCnt="0"/>
      <dgm:spPr/>
    </dgm:pt>
    <dgm:pt modelId="{21BBAFF9-6EBC-42A3-9CC6-EF7546C237DF}" type="pres">
      <dgm:prSet presAssocID="{8865A27B-1BC3-497E-A4D8-427A2D0A1E17}" presName="tx1" presStyleLbl="revTx" presStyleIdx="2" presStyleCnt="3"/>
      <dgm:spPr/>
    </dgm:pt>
    <dgm:pt modelId="{7144CEEB-3FCF-450D-BD9F-AF0900417801}" type="pres">
      <dgm:prSet presAssocID="{8865A27B-1BC3-497E-A4D8-427A2D0A1E17}" presName="vert1" presStyleCnt="0"/>
      <dgm:spPr/>
    </dgm:pt>
  </dgm:ptLst>
  <dgm:cxnLst>
    <dgm:cxn modelId="{06BA440C-2C02-4C26-9F2B-F515FBEA4C3F}" srcId="{08245EE1-AFBB-49A0-A0AB-53647A3CB0D3}" destId="{AEBE1C7A-A0DD-4380-8C23-F2F2D2915045}" srcOrd="1" destOrd="0" parTransId="{19670F6B-B11A-4348-B92F-F221EB61E01C}" sibTransId="{1156AB86-0E69-42D2-AF16-FDC6C6283FE6}"/>
    <dgm:cxn modelId="{2B023713-185A-4D0E-901A-88A27C10C042}" srcId="{08245EE1-AFBB-49A0-A0AB-53647A3CB0D3}" destId="{8865A27B-1BC3-497E-A4D8-427A2D0A1E17}" srcOrd="2" destOrd="0" parTransId="{87A66D4F-8FCF-4323-82C3-F1674C8E7E38}" sibTransId="{8570C055-DE99-48ED-83DE-8095838F3B3E}"/>
    <dgm:cxn modelId="{867FA074-D401-4C7B-B01A-E104EC95782F}" type="presOf" srcId="{AEBE1C7A-A0DD-4380-8C23-F2F2D2915045}" destId="{1709DDE6-24EC-4115-9F76-1BF2E4C3C1EA}" srcOrd="0" destOrd="0" presId="urn:microsoft.com/office/officeart/2008/layout/LinedList"/>
    <dgm:cxn modelId="{970277C1-FA7B-4E0D-B349-AEF0A3B083DA}" type="presOf" srcId="{08245EE1-AFBB-49A0-A0AB-53647A3CB0D3}" destId="{21099B5F-04F5-4794-93DC-1D82E4B9E24E}" srcOrd="0" destOrd="0" presId="urn:microsoft.com/office/officeart/2008/layout/LinedList"/>
    <dgm:cxn modelId="{A813A1C2-C97E-4FE9-98CA-5D14D7D643D4}" srcId="{08245EE1-AFBB-49A0-A0AB-53647A3CB0D3}" destId="{A4E4B6E6-FFBB-427C-B943-5DB1084034A1}" srcOrd="0" destOrd="0" parTransId="{315DDDFB-374B-416F-9755-35022F70DE06}" sibTransId="{11FDD87C-3CD0-4DD6-9E34-6AAD74126D4F}"/>
    <dgm:cxn modelId="{91B969CD-EC23-427C-AB08-D73468B60E32}" type="presOf" srcId="{8865A27B-1BC3-497E-A4D8-427A2D0A1E17}" destId="{21BBAFF9-6EBC-42A3-9CC6-EF7546C237DF}" srcOrd="0" destOrd="0" presId="urn:microsoft.com/office/officeart/2008/layout/LinedList"/>
    <dgm:cxn modelId="{A53569F2-5D4C-4696-B238-D54E5952BBD3}" type="presOf" srcId="{A4E4B6E6-FFBB-427C-B943-5DB1084034A1}" destId="{E0685D6D-B418-4A22-8A23-4293C2B4F44D}" srcOrd="0" destOrd="0" presId="urn:microsoft.com/office/officeart/2008/layout/LinedList"/>
    <dgm:cxn modelId="{C0164F19-1A7B-46A3-9E51-AAC772A5C605}" type="presParOf" srcId="{21099B5F-04F5-4794-93DC-1D82E4B9E24E}" destId="{1A8D1129-2EE4-4ED0-947E-3EBFD20579A5}" srcOrd="0" destOrd="0" presId="urn:microsoft.com/office/officeart/2008/layout/LinedList"/>
    <dgm:cxn modelId="{CF34F62A-F5E6-45BC-B0FE-566A690C0097}" type="presParOf" srcId="{21099B5F-04F5-4794-93DC-1D82E4B9E24E}" destId="{E91E8DFA-1C8B-4487-A9B0-DCD90EA9AA26}" srcOrd="1" destOrd="0" presId="urn:microsoft.com/office/officeart/2008/layout/LinedList"/>
    <dgm:cxn modelId="{BD1684B2-8968-4147-B8AD-4BD8546A25D0}" type="presParOf" srcId="{E91E8DFA-1C8B-4487-A9B0-DCD90EA9AA26}" destId="{E0685D6D-B418-4A22-8A23-4293C2B4F44D}" srcOrd="0" destOrd="0" presId="urn:microsoft.com/office/officeart/2008/layout/LinedList"/>
    <dgm:cxn modelId="{A74BBD4F-3451-49FC-8864-D74A1A2AB2DE}" type="presParOf" srcId="{E91E8DFA-1C8B-4487-A9B0-DCD90EA9AA26}" destId="{32673665-F95A-405C-A582-B729C4D7BC11}" srcOrd="1" destOrd="0" presId="urn:microsoft.com/office/officeart/2008/layout/LinedList"/>
    <dgm:cxn modelId="{183164CC-45AD-4434-80E5-8F9CE1BEA783}" type="presParOf" srcId="{21099B5F-04F5-4794-93DC-1D82E4B9E24E}" destId="{251F3873-BD3E-48A0-82FB-B608F55CA148}" srcOrd="2" destOrd="0" presId="urn:microsoft.com/office/officeart/2008/layout/LinedList"/>
    <dgm:cxn modelId="{8287DBC8-3708-48BF-B049-5538F1A4E725}" type="presParOf" srcId="{21099B5F-04F5-4794-93DC-1D82E4B9E24E}" destId="{A0BD193F-9849-4165-A0DB-C2F25F154419}" srcOrd="3" destOrd="0" presId="urn:microsoft.com/office/officeart/2008/layout/LinedList"/>
    <dgm:cxn modelId="{F63A1886-D839-4D13-B123-20697FE5E264}" type="presParOf" srcId="{A0BD193F-9849-4165-A0DB-C2F25F154419}" destId="{1709DDE6-24EC-4115-9F76-1BF2E4C3C1EA}" srcOrd="0" destOrd="0" presId="urn:microsoft.com/office/officeart/2008/layout/LinedList"/>
    <dgm:cxn modelId="{58686FC6-26F1-4F97-AFB4-617F8A48F8AE}" type="presParOf" srcId="{A0BD193F-9849-4165-A0DB-C2F25F154419}" destId="{C9B5B991-81D7-45A4-887B-DA8C6717F256}" srcOrd="1" destOrd="0" presId="urn:microsoft.com/office/officeart/2008/layout/LinedList"/>
    <dgm:cxn modelId="{B2BB8262-6813-4772-B2AB-64B127A5A236}" type="presParOf" srcId="{21099B5F-04F5-4794-93DC-1D82E4B9E24E}" destId="{C4936607-C562-4EC6-9CED-AFDB4114A30C}" srcOrd="4" destOrd="0" presId="urn:microsoft.com/office/officeart/2008/layout/LinedList"/>
    <dgm:cxn modelId="{BC7C916D-C21C-4B0E-9DF2-282E5E3692E1}" type="presParOf" srcId="{21099B5F-04F5-4794-93DC-1D82E4B9E24E}" destId="{060A3DC0-D683-4286-AE22-B606B88AB0E6}" srcOrd="5" destOrd="0" presId="urn:microsoft.com/office/officeart/2008/layout/LinedList"/>
    <dgm:cxn modelId="{3A71A687-0058-430F-B3FC-C689768FCAA1}" type="presParOf" srcId="{060A3DC0-D683-4286-AE22-B606B88AB0E6}" destId="{21BBAFF9-6EBC-42A3-9CC6-EF7546C237DF}" srcOrd="0" destOrd="0" presId="urn:microsoft.com/office/officeart/2008/layout/LinedList"/>
    <dgm:cxn modelId="{019D8CC5-3A02-4944-B78C-C487A616DD66}" type="presParOf" srcId="{060A3DC0-D683-4286-AE22-B606B88AB0E6}" destId="{7144CEEB-3FCF-450D-BD9F-AF090041780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D1129-2EE4-4ED0-947E-3EBFD20579A5}">
      <dsp:nvSpPr>
        <dsp:cNvPr id="0" name=""/>
        <dsp:cNvSpPr/>
      </dsp:nvSpPr>
      <dsp:spPr>
        <a:xfrm>
          <a:off x="0" y="2870"/>
          <a:ext cx="630160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685D6D-B418-4A22-8A23-4293C2B4F44D}">
      <dsp:nvSpPr>
        <dsp:cNvPr id="0" name=""/>
        <dsp:cNvSpPr/>
      </dsp:nvSpPr>
      <dsp:spPr>
        <a:xfrm>
          <a:off x="0" y="2870"/>
          <a:ext cx="6301601" cy="195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en-US" sz="2200" kern="1200" dirty="0"/>
            <a:t>Domestic Waste Segregation Using Artificial Intelligence</a:t>
          </a:r>
        </a:p>
      </dsp:txBody>
      <dsp:txXfrm>
        <a:off x="0" y="2870"/>
        <a:ext cx="6301601" cy="1957689"/>
      </dsp:txXfrm>
    </dsp:sp>
    <dsp:sp modelId="{251F3873-BD3E-48A0-82FB-B608F55CA148}">
      <dsp:nvSpPr>
        <dsp:cNvPr id="0" name=""/>
        <dsp:cNvSpPr/>
      </dsp:nvSpPr>
      <dsp:spPr>
        <a:xfrm>
          <a:off x="0" y="1960559"/>
          <a:ext cx="6301601"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709DDE6-24EC-4115-9F76-1BF2E4C3C1EA}">
      <dsp:nvSpPr>
        <dsp:cNvPr id="0" name=""/>
        <dsp:cNvSpPr/>
      </dsp:nvSpPr>
      <dsp:spPr>
        <a:xfrm>
          <a:off x="0" y="1960559"/>
          <a:ext cx="6301601" cy="195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en-US" sz="2200" kern="1200" dirty="0"/>
            <a:t>Team Project Presentation</a:t>
          </a:r>
        </a:p>
      </dsp:txBody>
      <dsp:txXfrm>
        <a:off x="0" y="1960559"/>
        <a:ext cx="6301601" cy="1957689"/>
      </dsp:txXfrm>
    </dsp:sp>
    <dsp:sp modelId="{C4936607-C562-4EC6-9CED-AFDB4114A30C}">
      <dsp:nvSpPr>
        <dsp:cNvPr id="0" name=""/>
        <dsp:cNvSpPr/>
      </dsp:nvSpPr>
      <dsp:spPr>
        <a:xfrm>
          <a:off x="0" y="3918249"/>
          <a:ext cx="6301601"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BBAFF9-6EBC-42A3-9CC6-EF7546C237DF}">
      <dsp:nvSpPr>
        <dsp:cNvPr id="0" name=""/>
        <dsp:cNvSpPr/>
      </dsp:nvSpPr>
      <dsp:spPr>
        <a:xfrm>
          <a:off x="0" y="3918249"/>
          <a:ext cx="6301601" cy="195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en-US" sz="2200" kern="1200" dirty="0"/>
            <a:t> Categories: </a:t>
          </a:r>
        </a:p>
        <a:p>
          <a:pPr marL="0" lvl="0" indent="0" algn="l" defTabSz="977900">
            <a:lnSpc>
              <a:spcPct val="100000"/>
            </a:lnSpc>
            <a:spcBef>
              <a:spcPct val="0"/>
            </a:spcBef>
            <a:spcAft>
              <a:spcPct val="35000"/>
            </a:spcAft>
            <a:buNone/>
          </a:pPr>
          <a:r>
            <a:rPr lang="en-US" sz="2200" kern="1200" dirty="0"/>
            <a:t>Biodegradable </a:t>
          </a:r>
        </a:p>
        <a:p>
          <a:pPr marL="0" lvl="0" indent="0" algn="l" defTabSz="977900">
            <a:lnSpc>
              <a:spcPct val="100000"/>
            </a:lnSpc>
            <a:spcBef>
              <a:spcPct val="0"/>
            </a:spcBef>
            <a:spcAft>
              <a:spcPct val="35000"/>
            </a:spcAft>
            <a:buNone/>
          </a:pPr>
          <a:r>
            <a:rPr lang="en-US" sz="2200" kern="1200" dirty="0"/>
            <a:t>And</a:t>
          </a:r>
        </a:p>
        <a:p>
          <a:pPr marL="0" lvl="0" indent="0" algn="l" defTabSz="977900">
            <a:lnSpc>
              <a:spcPct val="100000"/>
            </a:lnSpc>
            <a:spcBef>
              <a:spcPct val="0"/>
            </a:spcBef>
            <a:spcAft>
              <a:spcPct val="35000"/>
            </a:spcAft>
            <a:buNone/>
          </a:pPr>
          <a:r>
            <a:rPr lang="en-US" sz="2200" kern="1200" dirty="0"/>
            <a:t>Non-Biodegradable </a:t>
          </a:r>
        </a:p>
      </dsp:txBody>
      <dsp:txXfrm>
        <a:off x="0" y="3918249"/>
        <a:ext cx="6301601" cy="195768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6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838200" y="1195697"/>
            <a:ext cx="3200400" cy="4238118"/>
          </a:xfrm>
          <a:prstGeom prst="rect">
            <a:avLst/>
          </a:prstGeom>
        </p:spPr>
        <p:txBody>
          <a:bodyPr vert="horz" lIns="91440" tIns="45720" rIns="91440" bIns="45720" rtlCol="0" anchor="ctr">
            <a:normAutofit/>
          </a:bodyPr>
          <a:lstStyle/>
          <a:p>
            <a:pPr defTabSz="914400">
              <a:lnSpc>
                <a:spcPct val="90000"/>
              </a:lnSpc>
              <a:spcBef>
                <a:spcPct val="0"/>
              </a:spcBef>
              <a:spcAft>
                <a:spcPts val="600"/>
              </a:spcAft>
              <a:defRPr sz="3000" b="1"/>
            </a:pPr>
            <a:r>
              <a:rPr lang="en-US" sz="4400" kern="1200">
                <a:solidFill>
                  <a:schemeClr val="bg1"/>
                </a:solidFill>
                <a:latin typeface="+mj-lt"/>
                <a:ea typeface="+mj-ea"/>
                <a:cs typeface="+mj-cs"/>
              </a:rPr>
              <a:t>AI SMART WASTE SORTER</a:t>
            </a:r>
          </a:p>
        </p:txBody>
      </p:sp>
      <p:grpSp>
        <p:nvGrpSpPr>
          <p:cNvPr id="50"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51" name="Freeform: Shape 50">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54" name="Oval 53">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6" name="Oval 55">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8"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59" name="Freeform: Shape 58">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TextBox 2">
            <a:extLst>
              <a:ext uri="{FF2B5EF4-FFF2-40B4-BE49-F238E27FC236}">
                <a16:creationId xmlns:a16="http://schemas.microsoft.com/office/drawing/2014/main" id="{61EA7F4B-BAAC-5FB7-9851-33CFC0FEA930}"/>
              </a:ext>
            </a:extLst>
          </p:cNvPr>
          <p:cNvGraphicFramePr/>
          <p:nvPr>
            <p:extLst>
              <p:ext uri="{D42A27DB-BD31-4B8C-83A1-F6EECF244321}">
                <p14:modId xmlns:p14="http://schemas.microsoft.com/office/powerpoint/2010/main" val="1373891524"/>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38200" y="1748452"/>
            <a:ext cx="4974771" cy="358778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3000" b="1"/>
            </a:pPr>
            <a:r>
              <a:rPr lang="en-US" sz="4400" kern="1200" dirty="0">
                <a:solidFill>
                  <a:schemeClr val="bg1"/>
                </a:solidFill>
                <a:latin typeface="+mj-lt"/>
                <a:ea typeface="+mj-ea"/>
                <a:cs typeface="+mj-cs"/>
              </a:rPr>
              <a:t> Problem Statement</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p:cNvSpPr txBox="1"/>
          <p:nvPr/>
        </p:nvSpPr>
        <p:spPr>
          <a:xfrm>
            <a:off x="6477270" y="1130846"/>
            <a:ext cx="4974771" cy="4351338"/>
          </a:xfrm>
          <a:prstGeom prst="rect">
            <a:avLst/>
          </a:prstGeom>
        </p:spPr>
        <p:txBody>
          <a:bodyPr vert="horz" lIns="91440" tIns="45720" rIns="91440" bIns="45720" rtlCol="0">
            <a:normAutofit fontScale="85000" lnSpcReduction="10000"/>
          </a:bodyPr>
          <a:lstStyle/>
          <a:p>
            <a:r>
              <a:rPr lang="en-US" sz="2000" dirty="0">
                <a:solidFill>
                  <a:schemeClr val="bg1"/>
                </a:solidFill>
              </a:rPr>
              <a:t>• </a:t>
            </a:r>
            <a:r>
              <a:rPr lang="en-US" sz="2000" dirty="0">
                <a:solidFill>
                  <a:schemeClr val="bg2"/>
                </a:solidFill>
              </a:rPr>
              <a:t>In our daily life, we generate different types of waste such as food waste, plastic, paper, metal and other materials. Usually, all this waste is put into the same dustbin, which makes proper waste segregation difficult.</a:t>
            </a:r>
          </a:p>
          <a:p>
            <a:r>
              <a:rPr lang="en-US" sz="2000" dirty="0">
                <a:solidFill>
                  <a:schemeClr val="bg1"/>
                </a:solidFill>
              </a:rPr>
              <a:t>• </a:t>
            </a:r>
            <a:r>
              <a:rPr lang="en-US" sz="2000" dirty="0">
                <a:solidFill>
                  <a:schemeClr val="bg2"/>
                </a:solidFill>
              </a:rPr>
              <a:t>Separating waste manually can be time-consuming, unhygienic and inconvenient, especially at home. When biodegradable and recyclable waste gets mixed together, recycling and composting become more difficult.</a:t>
            </a:r>
          </a:p>
          <a:p>
            <a:r>
              <a:rPr lang="en-US" sz="2000" dirty="0">
                <a:solidFill>
                  <a:schemeClr val="bg1"/>
                </a:solidFill>
              </a:rPr>
              <a:t>• </a:t>
            </a:r>
            <a:r>
              <a:rPr lang="en-US" sz="2000" dirty="0">
                <a:solidFill>
                  <a:schemeClr val="bg2"/>
                </a:solidFill>
              </a:rPr>
              <a:t>An AI Smart Waste Sorter can help solve this problem by identifying the type of waste using a camera and AI, and then automatically directing it to the appropriate compartment.</a:t>
            </a:r>
          </a:p>
          <a:p>
            <a:r>
              <a:rPr lang="en-US" sz="2000" dirty="0">
                <a:solidFill>
                  <a:schemeClr val="bg1"/>
                </a:solidFill>
              </a:rPr>
              <a:t>• </a:t>
            </a:r>
            <a:r>
              <a:rPr lang="en-US" sz="2000" dirty="0">
                <a:solidFill>
                  <a:schemeClr val="bg2"/>
                </a:solidFill>
              </a:rPr>
              <a:t>The main need for this project is to </a:t>
            </a:r>
            <a:r>
              <a:rPr lang="en-US" sz="2000" b="1" dirty="0">
                <a:solidFill>
                  <a:schemeClr val="bg2"/>
                </a:solidFill>
              </a:rPr>
              <a:t>reduce manual effort, improve waste segregation, support recycling, maintain better hygiene and encourage responsible waste management at the household level.</a:t>
            </a:r>
            <a:endParaRPr lang="en-US" sz="2000" dirty="0">
              <a:solidFill>
                <a:schemeClr val="bg2"/>
              </a:solidFill>
            </a:endParaRPr>
          </a:p>
          <a:p>
            <a:pPr defTabSz="914400">
              <a:lnSpc>
                <a:spcPct val="90000"/>
              </a:lnSpc>
              <a:spcAft>
                <a:spcPts val="1000"/>
              </a:spcAft>
              <a:defRPr sz="2000"/>
            </a:pPr>
            <a:endParaRPr lang="en-US" sz="2000" dirty="0">
              <a:solidFill>
                <a:schemeClr val="bg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38200" y="1748452"/>
            <a:ext cx="4974771" cy="358778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3000" b="1"/>
            </a:pPr>
            <a:r>
              <a:rPr lang="en-US" sz="4400" kern="1200" dirty="0">
                <a:solidFill>
                  <a:schemeClr val="bg1"/>
                </a:solidFill>
                <a:latin typeface="+mj-lt"/>
                <a:ea typeface="+mj-ea"/>
                <a:cs typeface="+mj-cs"/>
              </a:rPr>
              <a:t> Objectives</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p:cNvSpPr txBox="1"/>
          <p:nvPr/>
        </p:nvSpPr>
        <p:spPr>
          <a:xfrm>
            <a:off x="6477270" y="1130846"/>
            <a:ext cx="4974771" cy="4351338"/>
          </a:xfrm>
          <a:prstGeom prst="rect">
            <a:avLst/>
          </a:prstGeom>
        </p:spPr>
        <p:txBody>
          <a:bodyPr vert="horz" lIns="91440" tIns="45720" rIns="91440" bIns="45720" rtlCol="0">
            <a:normAutofit/>
          </a:bodyPr>
          <a:lstStyle/>
          <a:p>
            <a:pPr defTabSz="914400">
              <a:lnSpc>
                <a:spcPct val="90000"/>
              </a:lnSpc>
              <a:spcAft>
                <a:spcPts val="1000"/>
              </a:spcAft>
              <a:defRPr sz="2000"/>
            </a:pPr>
            <a:r>
              <a:rPr lang="en-US" sz="2000" dirty="0">
                <a:solidFill>
                  <a:schemeClr val="bg1"/>
                </a:solidFill>
              </a:rPr>
              <a:t>• Identify common household waste using a camera and AI.</a:t>
            </a:r>
          </a:p>
          <a:p>
            <a:pPr defTabSz="914400">
              <a:lnSpc>
                <a:spcPct val="90000"/>
              </a:lnSpc>
              <a:spcAft>
                <a:spcPts val="1000"/>
              </a:spcAft>
              <a:defRPr sz="2000"/>
            </a:pPr>
            <a:r>
              <a:rPr lang="en-US" sz="2000" dirty="0">
                <a:solidFill>
                  <a:schemeClr val="bg1"/>
                </a:solidFill>
              </a:rPr>
              <a:t>• Automatically separate waste into appropriate compartments.</a:t>
            </a:r>
          </a:p>
          <a:p>
            <a:pPr defTabSz="914400">
              <a:lnSpc>
                <a:spcPct val="90000"/>
              </a:lnSpc>
              <a:spcAft>
                <a:spcPts val="1000"/>
              </a:spcAft>
              <a:defRPr sz="2000"/>
            </a:pPr>
            <a:r>
              <a:rPr lang="en-US" sz="2000" dirty="0">
                <a:solidFill>
                  <a:schemeClr val="bg1"/>
                </a:solidFill>
              </a:rPr>
              <a:t>• Use sensors to improve detection and monitoring.</a:t>
            </a:r>
          </a:p>
          <a:p>
            <a:pPr defTabSz="914400">
              <a:lnSpc>
                <a:spcPct val="90000"/>
              </a:lnSpc>
              <a:spcAft>
                <a:spcPts val="1000"/>
              </a:spcAft>
              <a:defRPr sz="2000"/>
            </a:pPr>
            <a:r>
              <a:rPr lang="en-US" sz="2000" dirty="0">
                <a:solidFill>
                  <a:schemeClr val="bg1"/>
                </a:solidFill>
              </a:rPr>
              <a:t>• Measure/record waste quantity for household awareness.</a:t>
            </a:r>
          </a:p>
          <a:p>
            <a:pPr defTabSz="914400">
              <a:lnSpc>
                <a:spcPct val="90000"/>
              </a:lnSpc>
              <a:spcAft>
                <a:spcPts val="1000"/>
              </a:spcAft>
              <a:defRPr sz="2000"/>
            </a:pPr>
            <a:r>
              <a:rPr lang="en-US" sz="2000" dirty="0">
                <a:solidFill>
                  <a:schemeClr val="bg1"/>
                </a:solidFill>
              </a:rPr>
              <a:t>• Send uncertain items to a separate compartment instead of forcing an incorrect classification.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38200" y="1748452"/>
            <a:ext cx="4974771" cy="358778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3000" b="1"/>
            </a:pPr>
            <a:r>
              <a:rPr lang="en-US" sz="4400" kern="1200" dirty="0">
                <a:solidFill>
                  <a:schemeClr val="bg1"/>
                </a:solidFill>
                <a:latin typeface="+mj-lt"/>
                <a:ea typeface="+mj-ea"/>
                <a:cs typeface="+mj-cs"/>
              </a:rPr>
              <a:t> Proposed Solution</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p:cNvSpPr txBox="1"/>
          <p:nvPr/>
        </p:nvSpPr>
        <p:spPr>
          <a:xfrm>
            <a:off x="6477270" y="1130846"/>
            <a:ext cx="4974771" cy="4351338"/>
          </a:xfrm>
          <a:prstGeom prst="rect">
            <a:avLst/>
          </a:prstGeom>
        </p:spPr>
        <p:txBody>
          <a:bodyPr vert="horz" lIns="91440" tIns="45720" rIns="91440" bIns="45720" rtlCol="0">
            <a:normAutofit/>
          </a:bodyPr>
          <a:lstStyle/>
          <a:p>
            <a:pPr defTabSz="914400">
              <a:lnSpc>
                <a:spcPct val="90000"/>
              </a:lnSpc>
              <a:spcAft>
                <a:spcPts val="1000"/>
              </a:spcAft>
              <a:defRPr sz="2000"/>
            </a:pPr>
            <a:r>
              <a:rPr lang="en-US" sz="2000" dirty="0">
                <a:solidFill>
                  <a:schemeClr val="bg1"/>
                </a:solidFill>
              </a:rPr>
              <a:t>• Camera captures the waste item.</a:t>
            </a:r>
          </a:p>
          <a:p>
            <a:pPr defTabSz="914400">
              <a:lnSpc>
                <a:spcPct val="90000"/>
              </a:lnSpc>
              <a:spcAft>
                <a:spcPts val="1000"/>
              </a:spcAft>
              <a:defRPr sz="2000"/>
            </a:pPr>
            <a:r>
              <a:rPr lang="en-US" sz="2000" dirty="0">
                <a:solidFill>
                  <a:schemeClr val="bg1"/>
                </a:solidFill>
              </a:rPr>
              <a:t>• AI model classifies the item.</a:t>
            </a:r>
          </a:p>
          <a:p>
            <a:pPr defTabSz="914400">
              <a:lnSpc>
                <a:spcPct val="90000"/>
              </a:lnSpc>
              <a:spcAft>
                <a:spcPts val="1000"/>
              </a:spcAft>
              <a:defRPr sz="2000"/>
            </a:pPr>
            <a:r>
              <a:rPr lang="en-US" sz="2000" dirty="0">
                <a:solidFill>
                  <a:schemeClr val="bg1"/>
                </a:solidFill>
              </a:rPr>
              <a:t>• Sensors provide additional information such as moisture, metal presence and weight.</a:t>
            </a:r>
          </a:p>
          <a:p>
            <a:pPr defTabSz="914400">
              <a:lnSpc>
                <a:spcPct val="90000"/>
              </a:lnSpc>
              <a:spcAft>
                <a:spcPts val="1000"/>
              </a:spcAft>
              <a:defRPr sz="2000"/>
            </a:pPr>
            <a:r>
              <a:rPr lang="en-US" sz="2000" dirty="0">
                <a:solidFill>
                  <a:schemeClr val="bg1"/>
                </a:solidFill>
              </a:rPr>
              <a:t>• Controller operates a servo/motor-based sorting mechanism.</a:t>
            </a:r>
          </a:p>
          <a:p>
            <a:pPr defTabSz="914400">
              <a:lnSpc>
                <a:spcPct val="90000"/>
              </a:lnSpc>
              <a:spcAft>
                <a:spcPts val="1000"/>
              </a:spcAft>
              <a:defRPr sz="2000"/>
            </a:pPr>
            <a:r>
              <a:rPr lang="en-US" sz="2000" dirty="0">
                <a:solidFill>
                  <a:schemeClr val="bg1"/>
                </a:solidFill>
              </a:rPr>
              <a:t>• Waste is directed to Biodegradable, Recyclable or Other/Unknown compartments.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38200" y="1748452"/>
            <a:ext cx="4974771" cy="358778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3000" b="1"/>
            </a:pPr>
            <a:r>
              <a:rPr lang="en-US" sz="4400" kern="1200" dirty="0">
                <a:solidFill>
                  <a:schemeClr val="bg1"/>
                </a:solidFill>
                <a:latin typeface="+mj-lt"/>
                <a:ea typeface="+mj-ea"/>
                <a:cs typeface="+mj-cs"/>
              </a:rPr>
              <a:t> System Block Diagram</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p:cNvSpPr txBox="1"/>
          <p:nvPr/>
        </p:nvSpPr>
        <p:spPr>
          <a:xfrm>
            <a:off x="6477270" y="1130846"/>
            <a:ext cx="4974771" cy="4351338"/>
          </a:xfrm>
          <a:prstGeom prst="rect">
            <a:avLst/>
          </a:prstGeom>
        </p:spPr>
        <p:txBody>
          <a:bodyPr vert="horz" lIns="91440" tIns="45720" rIns="91440" bIns="45720" rtlCol="0">
            <a:normAutofit/>
          </a:bodyPr>
          <a:lstStyle/>
          <a:p>
            <a:pPr defTabSz="914400">
              <a:lnSpc>
                <a:spcPct val="90000"/>
              </a:lnSpc>
              <a:spcAft>
                <a:spcPts val="1000"/>
              </a:spcAft>
              <a:defRPr sz="1800"/>
            </a:pPr>
            <a:r>
              <a:rPr lang="en-US" sz="1500" dirty="0">
                <a:solidFill>
                  <a:schemeClr val="bg1"/>
                </a:solidFill>
              </a:rPr>
              <a:t>                    CAMERA</a:t>
            </a:r>
          </a:p>
          <a:p>
            <a:pPr defTabSz="914400">
              <a:lnSpc>
                <a:spcPct val="90000"/>
              </a:lnSpc>
              <a:spcAft>
                <a:spcPts val="1000"/>
              </a:spcAft>
              <a:defRPr sz="1800"/>
            </a:pPr>
            <a:r>
              <a:rPr lang="en-US" sz="1500" dirty="0">
                <a:solidFill>
                  <a:schemeClr val="bg1"/>
                </a:solidFill>
              </a:rPr>
              <a:t>                       ↓</a:t>
            </a:r>
          </a:p>
          <a:p>
            <a:pPr defTabSz="914400">
              <a:lnSpc>
                <a:spcPct val="90000"/>
              </a:lnSpc>
              <a:spcAft>
                <a:spcPts val="1000"/>
              </a:spcAft>
              <a:defRPr sz="1800"/>
            </a:pPr>
            <a:r>
              <a:rPr lang="en-US" sz="1500" dirty="0">
                <a:solidFill>
                  <a:schemeClr val="bg1"/>
                </a:solidFill>
              </a:rPr>
              <a:t>               AI IMAGE CLASSIFIER</a:t>
            </a:r>
          </a:p>
          <a:p>
            <a:pPr defTabSz="914400">
              <a:lnSpc>
                <a:spcPct val="90000"/>
              </a:lnSpc>
              <a:spcAft>
                <a:spcPts val="1000"/>
              </a:spcAft>
              <a:defRPr sz="1800"/>
            </a:pPr>
            <a:r>
              <a:rPr lang="en-US" sz="1500" dirty="0">
                <a:solidFill>
                  <a:schemeClr val="bg1"/>
                </a:solidFill>
              </a:rPr>
              <a:t>                       ↓</a:t>
            </a:r>
          </a:p>
          <a:p>
            <a:pPr defTabSz="914400">
              <a:lnSpc>
                <a:spcPct val="90000"/>
              </a:lnSpc>
              <a:spcAft>
                <a:spcPts val="1000"/>
              </a:spcAft>
              <a:defRPr sz="1800"/>
            </a:pPr>
            <a:r>
              <a:rPr lang="en-US" sz="1500" dirty="0">
                <a:solidFill>
                  <a:schemeClr val="bg1"/>
                </a:solidFill>
              </a:rPr>
              <a:t>     ┌────────── SENSOR VERIFICATION ──────────┐</a:t>
            </a:r>
          </a:p>
          <a:p>
            <a:pPr defTabSz="914400">
              <a:lnSpc>
                <a:spcPct val="90000"/>
              </a:lnSpc>
              <a:spcAft>
                <a:spcPts val="1000"/>
              </a:spcAft>
              <a:defRPr sz="1800"/>
            </a:pPr>
            <a:r>
              <a:rPr lang="en-US" sz="1500" dirty="0">
                <a:solidFill>
                  <a:schemeClr val="bg1"/>
                </a:solidFill>
              </a:rPr>
              <a:t>     │ Moisture • Metal • Weight • Fill Level │</a:t>
            </a:r>
          </a:p>
          <a:p>
            <a:pPr defTabSz="914400">
              <a:lnSpc>
                <a:spcPct val="90000"/>
              </a:lnSpc>
              <a:spcAft>
                <a:spcPts val="1000"/>
              </a:spcAft>
              <a:defRPr sz="1800"/>
            </a:pPr>
            <a:r>
              <a:rPr lang="en-US" sz="1500" dirty="0">
                <a:solidFill>
                  <a:schemeClr val="bg1"/>
                </a:solidFill>
              </a:rPr>
              <a:t>     └─────────────────┬──────────────────────┘</a:t>
            </a:r>
          </a:p>
          <a:p>
            <a:pPr defTabSz="914400">
              <a:lnSpc>
                <a:spcPct val="90000"/>
              </a:lnSpc>
              <a:spcAft>
                <a:spcPts val="1000"/>
              </a:spcAft>
              <a:defRPr sz="1800"/>
            </a:pPr>
            <a:r>
              <a:rPr lang="en-US" sz="1500" dirty="0">
                <a:solidFill>
                  <a:schemeClr val="bg1"/>
                </a:solidFill>
              </a:rPr>
              <a:t>                       ↓</a:t>
            </a:r>
          </a:p>
          <a:p>
            <a:pPr defTabSz="914400">
              <a:lnSpc>
                <a:spcPct val="90000"/>
              </a:lnSpc>
              <a:spcAft>
                <a:spcPts val="1000"/>
              </a:spcAft>
              <a:defRPr sz="1800"/>
            </a:pPr>
            <a:r>
              <a:rPr lang="en-US" sz="1500" dirty="0">
                <a:solidFill>
                  <a:schemeClr val="bg1"/>
                </a:solidFill>
              </a:rPr>
              <a:t>                  CONTROLLER</a:t>
            </a:r>
          </a:p>
          <a:p>
            <a:pPr defTabSz="914400">
              <a:lnSpc>
                <a:spcPct val="90000"/>
              </a:lnSpc>
              <a:spcAft>
                <a:spcPts val="1000"/>
              </a:spcAft>
              <a:defRPr sz="1800"/>
            </a:pPr>
            <a:r>
              <a:rPr lang="en-US" sz="1500" dirty="0">
                <a:solidFill>
                  <a:schemeClr val="bg1"/>
                </a:solidFill>
              </a:rPr>
              <a:t>                       ↓</a:t>
            </a:r>
          </a:p>
          <a:p>
            <a:pPr defTabSz="914400">
              <a:lnSpc>
                <a:spcPct val="90000"/>
              </a:lnSpc>
              <a:spcAft>
                <a:spcPts val="1000"/>
              </a:spcAft>
              <a:defRPr sz="1800"/>
            </a:pPr>
            <a:r>
              <a:rPr lang="en-US" sz="1500" dirty="0">
                <a:solidFill>
                  <a:schemeClr val="bg1"/>
                </a:solidFill>
              </a:rPr>
              <a:t>                SERVO / MOTOR</a:t>
            </a:r>
          </a:p>
          <a:p>
            <a:pPr defTabSz="914400">
              <a:lnSpc>
                <a:spcPct val="90000"/>
              </a:lnSpc>
              <a:spcAft>
                <a:spcPts val="1000"/>
              </a:spcAft>
              <a:defRPr sz="1800"/>
            </a:pPr>
            <a:r>
              <a:rPr lang="en-US" sz="1500" dirty="0">
                <a:solidFill>
                  <a:schemeClr val="bg1"/>
                </a:solidFill>
              </a:rPr>
              <a:t>                       ↓</a:t>
            </a:r>
          </a:p>
          <a:p>
            <a:pPr defTabSz="914400">
              <a:lnSpc>
                <a:spcPct val="90000"/>
              </a:lnSpc>
              <a:spcAft>
                <a:spcPts val="1000"/>
              </a:spcAft>
              <a:defRPr sz="1800"/>
            </a:pPr>
            <a:r>
              <a:rPr lang="en-US" sz="1500" dirty="0">
                <a:solidFill>
                  <a:schemeClr val="bg1"/>
                </a:solidFill>
              </a:rPr>
              <a:t>      BIODEGRADABLE | NON-BIODEGRADABLE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38200" y="1748452"/>
            <a:ext cx="4974771" cy="358778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3000" b="1"/>
            </a:pPr>
            <a:r>
              <a:rPr lang="en-US" sz="4400" kern="1200" dirty="0">
                <a:solidFill>
                  <a:schemeClr val="bg1"/>
                </a:solidFill>
                <a:latin typeface="+mj-lt"/>
                <a:ea typeface="+mj-ea"/>
                <a:cs typeface="+mj-cs"/>
              </a:rPr>
              <a:t> Hardware Components</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p:cNvSpPr txBox="1"/>
          <p:nvPr/>
        </p:nvSpPr>
        <p:spPr>
          <a:xfrm>
            <a:off x="6477270" y="1130846"/>
            <a:ext cx="4974771" cy="4351338"/>
          </a:xfrm>
          <a:prstGeom prst="rect">
            <a:avLst/>
          </a:prstGeom>
        </p:spPr>
        <p:txBody>
          <a:bodyPr vert="horz" lIns="91440" tIns="45720" rIns="91440" bIns="45720" rtlCol="0">
            <a:normAutofit/>
          </a:bodyPr>
          <a:lstStyle/>
          <a:p>
            <a:pPr defTabSz="914400">
              <a:lnSpc>
                <a:spcPct val="90000"/>
              </a:lnSpc>
              <a:spcAft>
                <a:spcPts val="1000"/>
              </a:spcAft>
              <a:defRPr sz="2000"/>
            </a:pPr>
            <a:endParaRPr lang="en-US" sz="1700" dirty="0">
              <a:solidFill>
                <a:schemeClr val="bg1"/>
              </a:solidFill>
            </a:endParaRPr>
          </a:p>
        </p:txBody>
      </p:sp>
      <p:graphicFrame>
        <p:nvGraphicFramePr>
          <p:cNvPr id="4" name="Table 3">
            <a:extLst>
              <a:ext uri="{FF2B5EF4-FFF2-40B4-BE49-F238E27FC236}">
                <a16:creationId xmlns:a16="http://schemas.microsoft.com/office/drawing/2014/main" id="{431CA261-0B79-A9B1-71D3-BEF334EB709B}"/>
              </a:ext>
            </a:extLst>
          </p:cNvPr>
          <p:cNvGraphicFramePr>
            <a:graphicFrameLocks noGrp="1"/>
          </p:cNvGraphicFramePr>
          <p:nvPr>
            <p:extLst>
              <p:ext uri="{D42A27DB-BD31-4B8C-83A1-F6EECF244321}">
                <p14:modId xmlns:p14="http://schemas.microsoft.com/office/powerpoint/2010/main" val="453709528"/>
              </p:ext>
            </p:extLst>
          </p:nvPr>
        </p:nvGraphicFramePr>
        <p:xfrm>
          <a:off x="6759116" y="1130846"/>
          <a:ext cx="5359694" cy="4622320"/>
        </p:xfrm>
        <a:graphic>
          <a:graphicData uri="http://schemas.openxmlformats.org/drawingml/2006/table">
            <a:tbl>
              <a:tblPr>
                <a:tableStyleId>{5C22544A-7EE6-4342-B048-85BDC9FD1C3A}</a:tableStyleId>
              </a:tblPr>
              <a:tblGrid>
                <a:gridCol w="2679847">
                  <a:extLst>
                    <a:ext uri="{9D8B030D-6E8A-4147-A177-3AD203B41FA5}">
                      <a16:colId xmlns:a16="http://schemas.microsoft.com/office/drawing/2014/main" val="1376782496"/>
                    </a:ext>
                  </a:extLst>
                </a:gridCol>
                <a:gridCol w="2679847">
                  <a:extLst>
                    <a:ext uri="{9D8B030D-6E8A-4147-A177-3AD203B41FA5}">
                      <a16:colId xmlns:a16="http://schemas.microsoft.com/office/drawing/2014/main" val="2698636291"/>
                    </a:ext>
                  </a:extLst>
                </a:gridCol>
              </a:tblGrid>
              <a:tr h="210796">
                <a:tc>
                  <a:txBody>
                    <a:bodyPr/>
                    <a:lstStyle/>
                    <a:p>
                      <a:pPr>
                        <a:buNone/>
                      </a:pPr>
                      <a:r>
                        <a:rPr lang="en-US" sz="1200"/>
                        <a:t>Component</a:t>
                      </a:r>
                    </a:p>
                  </a:txBody>
                  <a:tcPr marL="59552" marR="59552" marT="29776" marB="29776" anchor="ctr"/>
                </a:tc>
                <a:tc>
                  <a:txBody>
                    <a:bodyPr/>
                    <a:lstStyle/>
                    <a:p>
                      <a:pPr>
                        <a:buNone/>
                      </a:pPr>
                      <a:r>
                        <a:rPr lang="en-US" sz="1200"/>
                        <a:t>Function</a:t>
                      </a:r>
                    </a:p>
                  </a:txBody>
                  <a:tcPr marL="59552" marR="59552" marT="29776" marB="29776" anchor="ctr"/>
                </a:tc>
                <a:extLst>
                  <a:ext uri="{0D108BD9-81ED-4DB2-BD59-A6C34878D82A}">
                    <a16:rowId xmlns:a16="http://schemas.microsoft.com/office/drawing/2014/main" val="2952428548"/>
                  </a:ext>
                </a:extLst>
              </a:tr>
              <a:tr h="416865">
                <a:tc>
                  <a:txBody>
                    <a:bodyPr/>
                    <a:lstStyle/>
                    <a:p>
                      <a:pPr>
                        <a:buNone/>
                      </a:pPr>
                      <a:r>
                        <a:rPr lang="en-US" sz="1200"/>
                        <a:t>🧠 Raspberry Pi / ESP32</a:t>
                      </a:r>
                    </a:p>
                  </a:txBody>
                  <a:tcPr marL="59552" marR="59552" marT="29776" marB="29776" anchor="ctr"/>
                </a:tc>
                <a:tc>
                  <a:txBody>
                    <a:bodyPr/>
                    <a:lstStyle/>
                    <a:p>
                      <a:pPr>
                        <a:buNone/>
                      </a:pPr>
                      <a:r>
                        <a:rPr lang="en-US" sz="1200"/>
                        <a:t>Main controller; processes data and controls the system</a:t>
                      </a:r>
                    </a:p>
                  </a:txBody>
                  <a:tcPr marL="59552" marR="59552" marT="29776" marB="29776" anchor="ctr"/>
                </a:tc>
                <a:extLst>
                  <a:ext uri="{0D108BD9-81ED-4DB2-BD59-A6C34878D82A}">
                    <a16:rowId xmlns:a16="http://schemas.microsoft.com/office/drawing/2014/main" val="27311299"/>
                  </a:ext>
                </a:extLst>
              </a:tr>
              <a:tr h="416865">
                <a:tc>
                  <a:txBody>
                    <a:bodyPr/>
                    <a:lstStyle/>
                    <a:p>
                      <a:pPr>
                        <a:buNone/>
                      </a:pPr>
                      <a:r>
                        <a:rPr lang="en-US" sz="1200"/>
                        <a:t>📷 Camera (Pi Camera / ESP32-CAM)</a:t>
                      </a:r>
                    </a:p>
                  </a:txBody>
                  <a:tcPr marL="59552" marR="59552" marT="29776" marB="29776" anchor="ctr"/>
                </a:tc>
                <a:tc>
                  <a:txBody>
                    <a:bodyPr/>
                    <a:lstStyle/>
                    <a:p>
                      <a:pPr>
                        <a:buNone/>
                      </a:pPr>
                      <a:r>
                        <a:rPr lang="en-US" sz="1200"/>
                        <a:t>Captures images of waste for AI identification</a:t>
                      </a:r>
                    </a:p>
                  </a:txBody>
                  <a:tcPr marL="59552" marR="59552" marT="29776" marB="29776" anchor="ctr"/>
                </a:tc>
                <a:extLst>
                  <a:ext uri="{0D108BD9-81ED-4DB2-BD59-A6C34878D82A}">
                    <a16:rowId xmlns:a16="http://schemas.microsoft.com/office/drawing/2014/main" val="1111788439"/>
                  </a:ext>
                </a:extLst>
              </a:tr>
              <a:tr h="432976">
                <a:tc>
                  <a:txBody>
                    <a:bodyPr/>
                    <a:lstStyle/>
                    <a:p>
                      <a:pPr>
                        <a:buNone/>
                      </a:pPr>
                      <a:r>
                        <a:rPr lang="en-US" sz="1200"/>
                        <a:t>⚙️ Servo Motor</a:t>
                      </a:r>
                    </a:p>
                  </a:txBody>
                  <a:tcPr marL="59552" marR="59552" marT="29776" marB="29776" anchor="ctr"/>
                </a:tc>
                <a:tc>
                  <a:txBody>
                    <a:bodyPr/>
                    <a:lstStyle/>
                    <a:p>
                      <a:pPr>
                        <a:buNone/>
                      </a:pPr>
                      <a:r>
                        <a:rPr lang="en-US" sz="1200"/>
                        <a:t>Moves the flap to direct waste into the correct compartment</a:t>
                      </a:r>
                    </a:p>
                  </a:txBody>
                  <a:tcPr marL="59552" marR="59552" marT="29776" marB="29776" anchor="ctr"/>
                </a:tc>
                <a:extLst>
                  <a:ext uri="{0D108BD9-81ED-4DB2-BD59-A6C34878D82A}">
                    <a16:rowId xmlns:a16="http://schemas.microsoft.com/office/drawing/2014/main" val="2882304457"/>
                  </a:ext>
                </a:extLst>
              </a:tr>
              <a:tr h="416865">
                <a:tc>
                  <a:txBody>
                    <a:bodyPr/>
                    <a:lstStyle/>
                    <a:p>
                      <a:pPr>
                        <a:buNone/>
                      </a:pPr>
                      <a:r>
                        <a:rPr lang="en-US" sz="1200"/>
                        <a:t>📏 Ultrasonic Sensor</a:t>
                      </a:r>
                    </a:p>
                  </a:txBody>
                  <a:tcPr marL="59552" marR="59552" marT="29776" marB="29776" anchor="ctr"/>
                </a:tc>
                <a:tc>
                  <a:txBody>
                    <a:bodyPr/>
                    <a:lstStyle/>
                    <a:p>
                      <a:pPr>
                        <a:buNone/>
                      </a:pPr>
                      <a:r>
                        <a:rPr lang="en-US" sz="1200"/>
                        <a:t>Detects waste and measures the fill level of the bin</a:t>
                      </a:r>
                    </a:p>
                  </a:txBody>
                  <a:tcPr marL="59552" marR="59552" marT="29776" marB="29776" anchor="ctr"/>
                </a:tc>
                <a:extLst>
                  <a:ext uri="{0D108BD9-81ED-4DB2-BD59-A6C34878D82A}">
                    <a16:rowId xmlns:a16="http://schemas.microsoft.com/office/drawing/2014/main" val="4244535869"/>
                  </a:ext>
                </a:extLst>
              </a:tr>
              <a:tr h="238209">
                <a:tc>
                  <a:txBody>
                    <a:bodyPr/>
                    <a:lstStyle/>
                    <a:p>
                      <a:pPr>
                        <a:buNone/>
                      </a:pPr>
                      <a:r>
                        <a:rPr lang="en-US" sz="1200"/>
                        <a:t>💧 Moisture Sensor</a:t>
                      </a:r>
                    </a:p>
                  </a:txBody>
                  <a:tcPr marL="59552" marR="59552" marT="29776" marB="29776" anchor="ctr"/>
                </a:tc>
                <a:tc>
                  <a:txBody>
                    <a:bodyPr/>
                    <a:lstStyle/>
                    <a:p>
                      <a:pPr>
                        <a:buNone/>
                      </a:pPr>
                      <a:r>
                        <a:rPr lang="en-US" sz="1200"/>
                        <a:t>Helps identify wet/organic waste</a:t>
                      </a:r>
                    </a:p>
                  </a:txBody>
                  <a:tcPr marL="59552" marR="59552" marT="29776" marB="29776" anchor="ctr"/>
                </a:tc>
                <a:extLst>
                  <a:ext uri="{0D108BD9-81ED-4DB2-BD59-A6C34878D82A}">
                    <a16:rowId xmlns:a16="http://schemas.microsoft.com/office/drawing/2014/main" val="3109526226"/>
                  </a:ext>
                </a:extLst>
              </a:tr>
              <a:tr h="238209">
                <a:tc>
                  <a:txBody>
                    <a:bodyPr/>
                    <a:lstStyle/>
                    <a:p>
                      <a:pPr>
                        <a:buNone/>
                      </a:pPr>
                      <a:r>
                        <a:rPr lang="en-US" sz="1200"/>
                        <a:t>🧲 Inductive Proximity Sensor</a:t>
                      </a:r>
                    </a:p>
                  </a:txBody>
                  <a:tcPr marL="59552" marR="59552" marT="29776" marB="29776" anchor="ctr"/>
                </a:tc>
                <a:tc>
                  <a:txBody>
                    <a:bodyPr/>
                    <a:lstStyle/>
                    <a:p>
                      <a:pPr>
                        <a:buNone/>
                      </a:pPr>
                      <a:r>
                        <a:rPr lang="en-US" sz="1200"/>
                        <a:t>Detects metallic waste</a:t>
                      </a:r>
                    </a:p>
                  </a:txBody>
                  <a:tcPr marL="59552" marR="59552" marT="29776" marB="29776" anchor="ctr"/>
                </a:tc>
                <a:extLst>
                  <a:ext uri="{0D108BD9-81ED-4DB2-BD59-A6C34878D82A}">
                    <a16:rowId xmlns:a16="http://schemas.microsoft.com/office/drawing/2014/main" val="2018746852"/>
                  </a:ext>
                </a:extLst>
              </a:tr>
              <a:tr h="238209">
                <a:tc>
                  <a:txBody>
                    <a:bodyPr/>
                    <a:lstStyle/>
                    <a:p>
                      <a:pPr>
                        <a:buNone/>
                      </a:pPr>
                      <a:r>
                        <a:rPr lang="en-US" sz="1200"/>
                        <a:t>⚖️ Load Cell + HX711</a:t>
                      </a:r>
                    </a:p>
                  </a:txBody>
                  <a:tcPr marL="59552" marR="59552" marT="29776" marB="29776" anchor="ctr"/>
                </a:tc>
                <a:tc>
                  <a:txBody>
                    <a:bodyPr/>
                    <a:lstStyle/>
                    <a:p>
                      <a:pPr>
                        <a:buNone/>
                      </a:pPr>
                      <a:r>
                        <a:rPr lang="en-US" sz="1200"/>
                        <a:t>Measures the weight of waste</a:t>
                      </a:r>
                    </a:p>
                  </a:txBody>
                  <a:tcPr marL="59552" marR="59552" marT="29776" marB="29776" anchor="ctr"/>
                </a:tc>
                <a:extLst>
                  <a:ext uri="{0D108BD9-81ED-4DB2-BD59-A6C34878D82A}">
                    <a16:rowId xmlns:a16="http://schemas.microsoft.com/office/drawing/2014/main" val="3103476454"/>
                  </a:ext>
                </a:extLst>
              </a:tr>
              <a:tr h="416865">
                <a:tc>
                  <a:txBody>
                    <a:bodyPr/>
                    <a:lstStyle/>
                    <a:p>
                      <a:pPr>
                        <a:buNone/>
                      </a:pPr>
                      <a:r>
                        <a:rPr lang="en-US" sz="1200"/>
                        <a:t>🔔 Buzzer / LED</a:t>
                      </a:r>
                    </a:p>
                  </a:txBody>
                  <a:tcPr marL="59552" marR="59552" marT="29776" marB="29776" anchor="ctr"/>
                </a:tc>
                <a:tc>
                  <a:txBody>
                    <a:bodyPr/>
                    <a:lstStyle/>
                    <a:p>
                      <a:pPr>
                        <a:buNone/>
                      </a:pPr>
                      <a:r>
                        <a:rPr lang="en-US" sz="1200"/>
                        <a:t>Provides alerts and system-status indication</a:t>
                      </a:r>
                    </a:p>
                  </a:txBody>
                  <a:tcPr marL="59552" marR="59552" marT="29776" marB="29776" anchor="ctr"/>
                </a:tc>
                <a:extLst>
                  <a:ext uri="{0D108BD9-81ED-4DB2-BD59-A6C34878D82A}">
                    <a16:rowId xmlns:a16="http://schemas.microsoft.com/office/drawing/2014/main" val="2748452054"/>
                  </a:ext>
                </a:extLst>
              </a:tr>
              <a:tr h="416865">
                <a:tc>
                  <a:txBody>
                    <a:bodyPr/>
                    <a:lstStyle/>
                    <a:p>
                      <a:pPr>
                        <a:buNone/>
                      </a:pPr>
                      <a:r>
                        <a:rPr lang="en-US" sz="1200"/>
                        <a:t>🗑️ Multi-compartment Bin</a:t>
                      </a:r>
                    </a:p>
                  </a:txBody>
                  <a:tcPr marL="59552" marR="59552" marT="29776" marB="29776" anchor="ctr"/>
                </a:tc>
                <a:tc>
                  <a:txBody>
                    <a:bodyPr/>
                    <a:lstStyle/>
                    <a:p>
                      <a:pPr>
                        <a:buNone/>
                      </a:pPr>
                      <a:r>
                        <a:rPr lang="en-US" sz="1200"/>
                        <a:t>Separates biodegradable, recyclable and other waste</a:t>
                      </a:r>
                    </a:p>
                  </a:txBody>
                  <a:tcPr marL="59552" marR="59552" marT="29776" marB="29776" anchor="ctr"/>
                </a:tc>
                <a:extLst>
                  <a:ext uri="{0D108BD9-81ED-4DB2-BD59-A6C34878D82A}">
                    <a16:rowId xmlns:a16="http://schemas.microsoft.com/office/drawing/2014/main" val="676793004"/>
                  </a:ext>
                </a:extLst>
              </a:tr>
              <a:tr h="416865">
                <a:tc>
                  <a:txBody>
                    <a:bodyPr/>
                    <a:lstStyle/>
                    <a:p>
                      <a:pPr>
                        <a:buNone/>
                      </a:pPr>
                      <a:r>
                        <a:rPr lang="en-US" sz="1200"/>
                        <a:t>🔌 Power Supply</a:t>
                      </a:r>
                    </a:p>
                  </a:txBody>
                  <a:tcPr marL="59552" marR="59552" marT="29776" marB="29776" anchor="ctr"/>
                </a:tc>
                <a:tc>
                  <a:txBody>
                    <a:bodyPr/>
                    <a:lstStyle/>
                    <a:p>
                      <a:pPr>
                        <a:buNone/>
                      </a:pPr>
                      <a:r>
                        <a:rPr lang="en-US" sz="1200"/>
                        <a:t>Provides power to the controller, sensors and motors</a:t>
                      </a:r>
                    </a:p>
                  </a:txBody>
                  <a:tcPr marL="59552" marR="59552" marT="29776" marB="29776" anchor="ctr"/>
                </a:tc>
                <a:extLst>
                  <a:ext uri="{0D108BD9-81ED-4DB2-BD59-A6C34878D82A}">
                    <a16:rowId xmlns:a16="http://schemas.microsoft.com/office/drawing/2014/main" val="3289575913"/>
                  </a:ext>
                </a:extLst>
              </a:tr>
              <a:tr h="238209">
                <a:tc>
                  <a:txBody>
                    <a:bodyPr/>
                    <a:lstStyle/>
                    <a:p>
                      <a:pPr>
                        <a:buNone/>
                      </a:pPr>
                      <a:r>
                        <a:rPr lang="en-US" sz="1200"/>
                        <a:t>🔗 Jumper Wires &amp; Breadboard/PCB</a:t>
                      </a:r>
                    </a:p>
                  </a:txBody>
                  <a:tcPr marL="59552" marR="59552" marT="29776" marB="29776" anchor="ctr"/>
                </a:tc>
                <a:tc>
                  <a:txBody>
                    <a:bodyPr/>
                    <a:lstStyle/>
                    <a:p>
                      <a:pPr>
                        <a:buNone/>
                      </a:pPr>
                      <a:r>
                        <a:rPr lang="en-US" sz="1200"/>
                        <a:t>Connects the electronic components</a:t>
                      </a:r>
                    </a:p>
                  </a:txBody>
                  <a:tcPr marL="59552" marR="59552" marT="29776" marB="29776" anchor="ctr"/>
                </a:tc>
                <a:extLst>
                  <a:ext uri="{0D108BD9-81ED-4DB2-BD59-A6C34878D82A}">
                    <a16:rowId xmlns:a16="http://schemas.microsoft.com/office/drawing/2014/main" val="2997636419"/>
                  </a:ext>
                </a:extLst>
              </a:tr>
              <a:tr h="416865">
                <a:tc>
                  <a:txBody>
                    <a:bodyPr/>
                    <a:lstStyle/>
                    <a:p>
                      <a:pPr>
                        <a:buNone/>
                      </a:pPr>
                      <a:r>
                        <a:rPr lang="en-US" sz="1200"/>
                        <a:t>🛠️ Frame / Conveyor / Sorting Flap</a:t>
                      </a:r>
                    </a:p>
                  </a:txBody>
                  <a:tcPr marL="59552" marR="59552" marT="29776" marB="29776" anchor="ctr"/>
                </a:tc>
                <a:tc>
                  <a:txBody>
                    <a:bodyPr/>
                    <a:lstStyle/>
                    <a:p>
                      <a:pPr>
                        <a:buNone/>
                      </a:pPr>
                      <a:r>
                        <a:rPr lang="en-US" sz="1200" dirty="0"/>
                        <a:t>Provides the physical mechanism for moving and sorting waste</a:t>
                      </a:r>
                    </a:p>
                  </a:txBody>
                  <a:tcPr marL="59552" marR="59552" marT="29776" marB="29776" anchor="ctr"/>
                </a:tc>
                <a:extLst>
                  <a:ext uri="{0D108BD9-81ED-4DB2-BD59-A6C34878D82A}">
                    <a16:rowId xmlns:a16="http://schemas.microsoft.com/office/drawing/2014/main" val="188439641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38200" y="1748452"/>
            <a:ext cx="4974771" cy="358778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3000" b="1"/>
            </a:pPr>
            <a:r>
              <a:rPr lang="en-US" sz="4400" kern="1200" dirty="0">
                <a:solidFill>
                  <a:schemeClr val="bg1"/>
                </a:solidFill>
                <a:latin typeface="+mj-lt"/>
                <a:ea typeface="+mj-ea"/>
                <a:cs typeface="+mj-cs"/>
              </a:rPr>
              <a:t>Software &amp; AI</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p:cNvSpPr txBox="1"/>
          <p:nvPr/>
        </p:nvSpPr>
        <p:spPr>
          <a:xfrm>
            <a:off x="6477270" y="1130846"/>
            <a:ext cx="4974771" cy="4351338"/>
          </a:xfrm>
          <a:prstGeom prst="rect">
            <a:avLst/>
          </a:prstGeom>
        </p:spPr>
        <p:txBody>
          <a:bodyPr vert="horz" lIns="91440" tIns="45720" rIns="91440" bIns="45720" rtlCol="0">
            <a:normAutofit/>
          </a:bodyPr>
          <a:lstStyle/>
          <a:p>
            <a:pPr defTabSz="914400">
              <a:lnSpc>
                <a:spcPct val="90000"/>
              </a:lnSpc>
              <a:spcAft>
                <a:spcPts val="1000"/>
              </a:spcAft>
              <a:defRPr sz="2000"/>
            </a:pPr>
            <a:r>
              <a:rPr lang="en-US" sz="2000" dirty="0">
                <a:solidFill>
                  <a:schemeClr val="bg1"/>
                </a:solidFill>
              </a:rPr>
              <a:t>• Python can be used for the AI and control logic.</a:t>
            </a:r>
          </a:p>
          <a:p>
            <a:pPr defTabSz="914400">
              <a:lnSpc>
                <a:spcPct val="90000"/>
              </a:lnSpc>
              <a:spcAft>
                <a:spcPts val="1000"/>
              </a:spcAft>
              <a:defRPr sz="2000"/>
            </a:pPr>
            <a:r>
              <a:rPr lang="en-US" sz="2000" dirty="0">
                <a:solidFill>
                  <a:schemeClr val="bg1"/>
                </a:solidFill>
              </a:rPr>
              <a:t>• Computer vision processes the camera image.</a:t>
            </a:r>
          </a:p>
          <a:p>
            <a:pPr defTabSz="914400">
              <a:lnSpc>
                <a:spcPct val="90000"/>
              </a:lnSpc>
              <a:spcAft>
                <a:spcPts val="1000"/>
              </a:spcAft>
              <a:defRPr sz="2000"/>
            </a:pPr>
            <a:r>
              <a:rPr lang="en-US" sz="2000" dirty="0">
                <a:solidFill>
                  <a:schemeClr val="bg1"/>
                </a:solidFill>
              </a:rPr>
              <a:t>• An image-classification model is trained on common domestic waste.</a:t>
            </a:r>
          </a:p>
          <a:p>
            <a:pPr defTabSz="914400">
              <a:lnSpc>
                <a:spcPct val="90000"/>
              </a:lnSpc>
              <a:spcAft>
                <a:spcPts val="1000"/>
              </a:spcAft>
              <a:defRPr sz="2000"/>
            </a:pPr>
            <a:r>
              <a:rPr lang="en-US" sz="2000" dirty="0">
                <a:solidFill>
                  <a:schemeClr val="bg1"/>
                </a:solidFill>
              </a:rPr>
              <a:t>• Example classes: food/organic, paper/cardboard, plastic, metal and other.</a:t>
            </a:r>
          </a:p>
          <a:p>
            <a:pPr defTabSz="914400">
              <a:lnSpc>
                <a:spcPct val="90000"/>
              </a:lnSpc>
              <a:spcAft>
                <a:spcPts val="1000"/>
              </a:spcAft>
              <a:defRPr sz="2000"/>
            </a:pPr>
            <a:r>
              <a:rPr lang="en-US" sz="2000" dirty="0">
                <a:solidFill>
                  <a:schemeClr val="bg1"/>
                </a:solidFill>
              </a:rPr>
              <a:t>• Confidence threshold: low-confidence items are sent to the Unknown compartment.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38200" y="1748452"/>
            <a:ext cx="4974771" cy="358778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3000" b="1"/>
            </a:pPr>
            <a:r>
              <a:rPr lang="en-US" sz="4400" kern="1200" dirty="0">
                <a:solidFill>
                  <a:schemeClr val="bg1"/>
                </a:solidFill>
                <a:latin typeface="+mj-lt"/>
                <a:ea typeface="+mj-ea"/>
                <a:cs typeface="+mj-cs"/>
              </a:rPr>
              <a:t> Innovation / USP</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p:cNvSpPr txBox="1"/>
          <p:nvPr/>
        </p:nvSpPr>
        <p:spPr>
          <a:xfrm>
            <a:off x="6477270" y="1130846"/>
            <a:ext cx="4974771" cy="4351338"/>
          </a:xfrm>
          <a:prstGeom prst="rect">
            <a:avLst/>
          </a:prstGeom>
        </p:spPr>
        <p:txBody>
          <a:bodyPr vert="horz" lIns="91440" tIns="45720" rIns="91440" bIns="45720" rtlCol="0">
            <a:normAutofit/>
          </a:bodyPr>
          <a:lstStyle/>
          <a:p>
            <a:pPr defTabSz="914400">
              <a:lnSpc>
                <a:spcPct val="90000"/>
              </a:lnSpc>
              <a:spcAft>
                <a:spcPts val="1000"/>
              </a:spcAft>
              <a:defRPr sz="2000"/>
            </a:pPr>
            <a:r>
              <a:rPr lang="en-US" sz="2000" dirty="0">
                <a:solidFill>
                  <a:schemeClr val="bg1"/>
                </a:solidFill>
              </a:rPr>
              <a:t>• Designed specifically for domestic use.</a:t>
            </a:r>
          </a:p>
          <a:p>
            <a:pPr defTabSz="914400">
              <a:lnSpc>
                <a:spcPct val="90000"/>
              </a:lnSpc>
              <a:spcAft>
                <a:spcPts val="1000"/>
              </a:spcAft>
              <a:defRPr sz="2000"/>
            </a:pPr>
            <a:r>
              <a:rPr lang="en-US" sz="2000" dirty="0">
                <a:solidFill>
                  <a:schemeClr val="bg1"/>
                </a:solidFill>
              </a:rPr>
              <a:t>• Multi-sensor verification instead of relying only on the camera.</a:t>
            </a:r>
          </a:p>
          <a:p>
            <a:pPr defTabSz="914400">
              <a:lnSpc>
                <a:spcPct val="90000"/>
              </a:lnSpc>
              <a:spcAft>
                <a:spcPts val="1000"/>
              </a:spcAft>
              <a:defRPr sz="2000"/>
            </a:pPr>
            <a:r>
              <a:rPr lang="en-US" sz="2000" dirty="0">
                <a:solidFill>
                  <a:schemeClr val="bg1"/>
                </a:solidFill>
              </a:rPr>
              <a:t>• Composing Alert .</a:t>
            </a:r>
          </a:p>
          <a:p>
            <a:pPr defTabSz="914400">
              <a:lnSpc>
                <a:spcPct val="90000"/>
              </a:lnSpc>
              <a:spcAft>
                <a:spcPts val="1000"/>
              </a:spcAft>
              <a:defRPr sz="2000"/>
            </a:pPr>
            <a:r>
              <a:rPr lang="en-US" sz="2000" dirty="0">
                <a:solidFill>
                  <a:schemeClr val="bg1"/>
                </a:solidFill>
              </a:rPr>
              <a:t>• Optional waste-weight and fill-level monitoring.</a:t>
            </a:r>
          </a:p>
          <a:p>
            <a:pPr defTabSz="914400">
              <a:lnSpc>
                <a:spcPct val="90000"/>
              </a:lnSpc>
              <a:spcAft>
                <a:spcPts val="1000"/>
              </a:spcAft>
              <a:defRPr sz="2000"/>
            </a:pPr>
            <a:r>
              <a:rPr lang="en-US" sz="2000" dirty="0">
                <a:solidFill>
                  <a:schemeClr val="bg1"/>
                </a:solidFill>
              </a:rPr>
              <a:t>• Can generate a household waste report for awareness.</a:t>
            </a:r>
          </a:p>
          <a:p>
            <a:pPr defTabSz="914400">
              <a:lnSpc>
                <a:spcPct val="90000"/>
              </a:lnSpc>
              <a:spcAft>
                <a:spcPts val="1000"/>
              </a:spcAft>
              <a:defRPr sz="2000"/>
            </a:pPr>
            <a:r>
              <a:rPr lang="en-US" sz="2000" dirty="0">
                <a:solidFill>
                  <a:schemeClr val="bg1"/>
                </a:solidFill>
              </a:rPr>
              <a:t>• Future versions can learn from corrected classifications.</a:t>
            </a:r>
          </a:p>
          <a:p>
            <a:pPr defTabSz="914400">
              <a:lnSpc>
                <a:spcPct val="90000"/>
              </a:lnSpc>
              <a:spcAft>
                <a:spcPts val="1000"/>
              </a:spcAft>
              <a:defRPr sz="2000"/>
            </a:pPr>
            <a:endParaRPr lang="en-US" sz="20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0DEC84-0600-BD96-DA11-FD0B6B1B4BB3}"/>
              </a:ext>
            </a:extLst>
          </p:cNvPr>
          <p:cNvSpPr>
            <a:spLocks noGrp="1"/>
          </p:cNvSpPr>
          <p:nvPr>
            <p:ph type="title"/>
          </p:nvPr>
        </p:nvSpPr>
        <p:spPr>
          <a:xfrm>
            <a:off x="838200" y="1748452"/>
            <a:ext cx="4974771" cy="3587786"/>
          </a:xfrm>
        </p:spPr>
        <p:txBody>
          <a:bodyPr>
            <a:normAutofit/>
          </a:bodyPr>
          <a:lstStyle/>
          <a:p>
            <a:r>
              <a:rPr lang="en-US">
                <a:solidFill>
                  <a:schemeClr val="bg1"/>
                </a:solidFill>
              </a:rPr>
              <a:t>ADVANTAGES </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Content Placeholder 2">
            <a:extLst>
              <a:ext uri="{FF2B5EF4-FFF2-40B4-BE49-F238E27FC236}">
                <a16:creationId xmlns:a16="http://schemas.microsoft.com/office/drawing/2014/main" id="{6E86C157-DAAB-A323-2746-21705A85E522}"/>
              </a:ext>
            </a:extLst>
          </p:cNvPr>
          <p:cNvSpPr>
            <a:spLocks noGrp="1"/>
          </p:cNvSpPr>
          <p:nvPr>
            <p:ph idx="1"/>
          </p:nvPr>
        </p:nvSpPr>
        <p:spPr>
          <a:xfrm>
            <a:off x="6477270" y="1130846"/>
            <a:ext cx="4974771" cy="4351338"/>
          </a:xfrm>
        </p:spPr>
        <p:txBody>
          <a:bodyPr>
            <a:normAutofit/>
          </a:bodyPr>
          <a:lstStyle/>
          <a:p>
            <a:pPr lvl="0">
              <a:lnSpc>
                <a:spcPct val="90000"/>
              </a:lnSpc>
            </a:pPr>
            <a:r>
              <a:rPr lang="en-US" sz="1500" b="1" dirty="0">
                <a:solidFill>
                  <a:schemeClr val="bg1"/>
                </a:solidFill>
              </a:rPr>
              <a:t>Automatic waste segregation</a:t>
            </a:r>
            <a:r>
              <a:rPr lang="en-US" sz="1500" dirty="0">
                <a:solidFill>
                  <a:schemeClr val="bg1"/>
                </a:solidFill>
              </a:rPr>
              <a:t> – Separates waste without manual sorting. </a:t>
            </a:r>
          </a:p>
          <a:p>
            <a:pPr lvl="0">
              <a:lnSpc>
                <a:spcPct val="90000"/>
              </a:lnSpc>
            </a:pPr>
            <a:r>
              <a:rPr lang="en-US" sz="1500" b="1" dirty="0">
                <a:solidFill>
                  <a:schemeClr val="bg1"/>
                </a:solidFill>
              </a:rPr>
              <a:t>Saves time and effort</a:t>
            </a:r>
            <a:r>
              <a:rPr lang="en-US" sz="1500" dirty="0">
                <a:solidFill>
                  <a:schemeClr val="bg1"/>
                </a:solidFill>
              </a:rPr>
              <a:t> – Reduces the need for household members to sort waste. </a:t>
            </a:r>
          </a:p>
          <a:p>
            <a:pPr lvl="0">
              <a:lnSpc>
                <a:spcPct val="90000"/>
              </a:lnSpc>
            </a:pPr>
            <a:r>
              <a:rPr lang="en-US" sz="1500" b="1" dirty="0">
                <a:solidFill>
                  <a:schemeClr val="bg1"/>
                </a:solidFill>
              </a:rPr>
              <a:t>Improves hygiene</a:t>
            </a:r>
            <a:r>
              <a:rPr lang="en-US" sz="1500" dirty="0">
                <a:solidFill>
                  <a:schemeClr val="bg1"/>
                </a:solidFill>
              </a:rPr>
              <a:t> – Minimizes direct contact with dirty or wet waste. </a:t>
            </a:r>
          </a:p>
          <a:p>
            <a:pPr lvl="0">
              <a:lnSpc>
                <a:spcPct val="90000"/>
              </a:lnSpc>
            </a:pPr>
            <a:r>
              <a:rPr lang="en-US" sz="1500" b="1" dirty="0">
                <a:solidFill>
                  <a:schemeClr val="bg1"/>
                </a:solidFill>
              </a:rPr>
              <a:t>Better recycling</a:t>
            </a:r>
            <a:r>
              <a:rPr lang="en-US" sz="1500" dirty="0">
                <a:solidFill>
                  <a:schemeClr val="bg1"/>
                </a:solidFill>
              </a:rPr>
              <a:t> – Helps keep recyclable materials separate from organic waste. </a:t>
            </a:r>
          </a:p>
          <a:p>
            <a:pPr lvl="0">
              <a:lnSpc>
                <a:spcPct val="90000"/>
              </a:lnSpc>
            </a:pPr>
            <a:r>
              <a:rPr lang="en-US" sz="1500" b="1" dirty="0">
                <a:solidFill>
                  <a:schemeClr val="bg1"/>
                </a:solidFill>
              </a:rPr>
              <a:t>Reduces human errors</a:t>
            </a:r>
            <a:r>
              <a:rPr lang="en-US" sz="1500" dirty="0">
                <a:solidFill>
                  <a:schemeClr val="bg1"/>
                </a:solidFill>
              </a:rPr>
              <a:t> – AI can identify waste based on trained images and sensor data. </a:t>
            </a:r>
          </a:p>
          <a:p>
            <a:pPr lvl="0">
              <a:lnSpc>
                <a:spcPct val="90000"/>
              </a:lnSpc>
            </a:pPr>
            <a:r>
              <a:rPr lang="en-US" sz="1500" b="1" dirty="0">
                <a:solidFill>
                  <a:schemeClr val="bg1"/>
                </a:solidFill>
              </a:rPr>
              <a:t>Domestic-friendly</a:t>
            </a:r>
            <a:r>
              <a:rPr lang="en-US" sz="1500" dirty="0">
                <a:solidFill>
                  <a:schemeClr val="bg1"/>
                </a:solidFill>
              </a:rPr>
              <a:t> – Can be designed in a compact size for home kitchens. </a:t>
            </a:r>
          </a:p>
          <a:p>
            <a:pPr lvl="0">
              <a:lnSpc>
                <a:spcPct val="90000"/>
              </a:lnSpc>
            </a:pPr>
            <a:r>
              <a:rPr lang="en-US" sz="1500" b="1" dirty="0">
                <a:solidFill>
                  <a:schemeClr val="bg1"/>
                </a:solidFill>
              </a:rPr>
              <a:t>Waste monitoring</a:t>
            </a:r>
            <a:r>
              <a:rPr lang="en-US" sz="1500" dirty="0">
                <a:solidFill>
                  <a:schemeClr val="bg1"/>
                </a:solidFill>
              </a:rPr>
              <a:t> – Weight and fill-level sensors can track how much waste is generated. </a:t>
            </a:r>
          </a:p>
          <a:p>
            <a:pPr lvl="0">
              <a:lnSpc>
                <a:spcPct val="90000"/>
              </a:lnSpc>
            </a:pPr>
            <a:r>
              <a:rPr lang="en-US" sz="1500" b="1" dirty="0">
                <a:solidFill>
                  <a:schemeClr val="bg1"/>
                </a:solidFill>
              </a:rPr>
              <a:t>Reduces contamination</a:t>
            </a:r>
            <a:r>
              <a:rPr lang="en-US" sz="1500" dirty="0">
                <a:solidFill>
                  <a:schemeClr val="bg1"/>
                </a:solidFill>
              </a:rPr>
              <a:t> – Keeping different waste streams separate can improve the quality of recycling/organic processing.</a:t>
            </a:r>
          </a:p>
        </p:txBody>
      </p:sp>
    </p:spTree>
    <p:extLst>
      <p:ext uri="{BB962C8B-B14F-4D97-AF65-F5344CB8AC3E}">
        <p14:creationId xmlns:p14="http://schemas.microsoft.com/office/powerpoint/2010/main" val="2268686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60BA03-7505-B851-D00F-A820CB2FD238}"/>
              </a:ext>
            </a:extLst>
          </p:cNvPr>
          <p:cNvSpPr>
            <a:spLocks noGrp="1"/>
          </p:cNvSpPr>
          <p:nvPr>
            <p:ph type="title"/>
          </p:nvPr>
        </p:nvSpPr>
        <p:spPr>
          <a:xfrm>
            <a:off x="838200" y="1748452"/>
            <a:ext cx="4974771" cy="3587786"/>
          </a:xfrm>
        </p:spPr>
        <p:txBody>
          <a:bodyPr>
            <a:normAutofit/>
          </a:bodyPr>
          <a:lstStyle/>
          <a:p>
            <a:r>
              <a:rPr lang="en-US">
                <a:solidFill>
                  <a:schemeClr val="bg1"/>
                </a:solidFill>
              </a:rPr>
              <a:t>LIMITATIONS </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Content Placeholder 2">
            <a:extLst>
              <a:ext uri="{FF2B5EF4-FFF2-40B4-BE49-F238E27FC236}">
                <a16:creationId xmlns:a16="http://schemas.microsoft.com/office/drawing/2014/main" id="{7ACDDE13-E877-2880-F0F6-41016304780C}"/>
              </a:ext>
            </a:extLst>
          </p:cNvPr>
          <p:cNvSpPr>
            <a:spLocks noGrp="1"/>
          </p:cNvSpPr>
          <p:nvPr>
            <p:ph idx="1"/>
          </p:nvPr>
        </p:nvSpPr>
        <p:spPr>
          <a:xfrm>
            <a:off x="6477270" y="1130846"/>
            <a:ext cx="4974771" cy="4351338"/>
          </a:xfrm>
        </p:spPr>
        <p:txBody>
          <a:bodyPr>
            <a:normAutofit/>
          </a:bodyPr>
          <a:lstStyle/>
          <a:p>
            <a:pPr lvl="0">
              <a:lnSpc>
                <a:spcPct val="90000"/>
              </a:lnSpc>
            </a:pPr>
            <a:r>
              <a:rPr lang="en-US" sz="1500" b="1" dirty="0">
                <a:solidFill>
                  <a:schemeClr val="bg1"/>
                </a:solidFill>
              </a:rPr>
              <a:t>High initial cost</a:t>
            </a:r>
            <a:r>
              <a:rPr lang="en-US" sz="1500" dirty="0">
                <a:solidFill>
                  <a:schemeClr val="bg1"/>
                </a:solidFill>
              </a:rPr>
              <a:t> – Camera, AI processor, sensors and motors can make it more expensive than a normal dustbin. </a:t>
            </a:r>
          </a:p>
          <a:p>
            <a:pPr lvl="0">
              <a:lnSpc>
                <a:spcPct val="90000"/>
              </a:lnSpc>
            </a:pPr>
            <a:r>
              <a:rPr lang="en-US" sz="1500" b="1" dirty="0">
                <a:solidFill>
                  <a:schemeClr val="bg1"/>
                </a:solidFill>
              </a:rPr>
              <a:t>Limited AI accuracy</a:t>
            </a:r>
            <a:r>
              <a:rPr lang="en-US" sz="1500" dirty="0">
                <a:solidFill>
                  <a:schemeClr val="bg1"/>
                </a:solidFill>
              </a:rPr>
              <a:t> – The system may incorrectly classify unfamiliar or visually similar items. </a:t>
            </a:r>
          </a:p>
          <a:p>
            <a:pPr lvl="0">
              <a:lnSpc>
                <a:spcPct val="90000"/>
              </a:lnSpc>
            </a:pPr>
            <a:r>
              <a:rPr lang="en-US" sz="1500" b="1" dirty="0">
                <a:solidFill>
                  <a:schemeClr val="bg1"/>
                </a:solidFill>
              </a:rPr>
              <a:t>Mixed waste is difficult</a:t>
            </a:r>
            <a:r>
              <a:rPr lang="en-US" sz="1500" dirty="0">
                <a:solidFill>
                  <a:schemeClr val="bg1"/>
                </a:solidFill>
              </a:rPr>
              <a:t> – An item containing multiple materials can be difficult to categorize. </a:t>
            </a:r>
          </a:p>
          <a:p>
            <a:pPr lvl="0">
              <a:lnSpc>
                <a:spcPct val="90000"/>
              </a:lnSpc>
            </a:pPr>
            <a:r>
              <a:rPr lang="en-US" sz="1500" b="1" dirty="0">
                <a:solidFill>
                  <a:schemeClr val="bg1"/>
                </a:solidFill>
              </a:rPr>
              <a:t>Dirty or wet waste</a:t>
            </a:r>
            <a:r>
              <a:rPr lang="en-US" sz="1500" dirty="0">
                <a:solidFill>
                  <a:schemeClr val="bg1"/>
                </a:solidFill>
              </a:rPr>
              <a:t> – Food residue, moisture and dirt can affect camera/sensor readings. </a:t>
            </a:r>
          </a:p>
          <a:p>
            <a:pPr lvl="0">
              <a:lnSpc>
                <a:spcPct val="90000"/>
              </a:lnSpc>
            </a:pPr>
            <a:r>
              <a:rPr lang="en-US" sz="1500" b="1" dirty="0">
                <a:solidFill>
                  <a:schemeClr val="bg1"/>
                </a:solidFill>
              </a:rPr>
              <a:t>Maintenance required</a:t>
            </a:r>
            <a:r>
              <a:rPr lang="en-US" sz="1500" dirty="0">
                <a:solidFill>
                  <a:schemeClr val="bg1"/>
                </a:solidFill>
              </a:rPr>
              <a:t> – Sensors, camera and mechanical parts need regular cleaning and maintenance. </a:t>
            </a:r>
          </a:p>
          <a:p>
            <a:pPr lvl="0">
              <a:lnSpc>
                <a:spcPct val="90000"/>
              </a:lnSpc>
            </a:pPr>
            <a:r>
              <a:rPr lang="en-US" sz="1500" b="1" dirty="0">
                <a:solidFill>
                  <a:schemeClr val="bg1"/>
                </a:solidFill>
              </a:rPr>
              <a:t>Power requirement</a:t>
            </a:r>
            <a:r>
              <a:rPr lang="en-US" sz="1500" dirty="0">
                <a:solidFill>
                  <a:schemeClr val="bg1"/>
                </a:solidFill>
              </a:rPr>
              <a:t> – The system needs a continuous power supply or rechargeable battery. </a:t>
            </a:r>
          </a:p>
          <a:p>
            <a:pPr lvl="0">
              <a:lnSpc>
                <a:spcPct val="90000"/>
              </a:lnSpc>
            </a:pPr>
            <a:r>
              <a:rPr lang="en-US" sz="1500" b="1" dirty="0">
                <a:solidFill>
                  <a:schemeClr val="bg1"/>
                </a:solidFill>
              </a:rPr>
              <a:t>Mechanical blockage</a:t>
            </a:r>
            <a:r>
              <a:rPr lang="en-US" sz="1500" dirty="0">
                <a:solidFill>
                  <a:schemeClr val="bg1"/>
                </a:solidFill>
              </a:rPr>
              <a:t> – Irregular, oversized or tangled waste may jam the sorting mechanism. </a:t>
            </a:r>
          </a:p>
          <a:p>
            <a:pPr lvl="0">
              <a:lnSpc>
                <a:spcPct val="90000"/>
              </a:lnSpc>
            </a:pPr>
            <a:r>
              <a:rPr lang="en-US" sz="1500" b="1" dirty="0">
                <a:solidFill>
                  <a:schemeClr val="bg1"/>
                </a:solidFill>
              </a:rPr>
              <a:t>Training data dependency</a:t>
            </a:r>
            <a:r>
              <a:rPr lang="en-US" sz="1500" dirty="0">
                <a:solidFill>
                  <a:schemeClr val="bg1"/>
                </a:solidFill>
              </a:rPr>
              <a:t> – AI performance depends on the quality and variety of images used for training.</a:t>
            </a:r>
          </a:p>
          <a:p>
            <a:pPr>
              <a:lnSpc>
                <a:spcPct val="90000"/>
              </a:lnSpc>
            </a:pPr>
            <a:endParaRPr lang="en-US" sz="1500" dirty="0">
              <a:solidFill>
                <a:schemeClr val="bg1"/>
              </a:solidFill>
            </a:endParaRPr>
          </a:p>
        </p:txBody>
      </p:sp>
    </p:spTree>
    <p:extLst>
      <p:ext uri="{BB962C8B-B14F-4D97-AF65-F5344CB8AC3E}">
        <p14:creationId xmlns:p14="http://schemas.microsoft.com/office/powerpoint/2010/main" val="927772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38200" y="1748452"/>
            <a:ext cx="4974771" cy="358778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3000" b="1"/>
            </a:pPr>
            <a:r>
              <a:rPr lang="en-US" sz="4400" kern="1200" dirty="0">
                <a:solidFill>
                  <a:schemeClr val="bg1"/>
                </a:solidFill>
                <a:latin typeface="+mj-lt"/>
                <a:ea typeface="+mj-ea"/>
                <a:cs typeface="+mj-cs"/>
              </a:rPr>
              <a:t> Working Example</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p:cNvSpPr txBox="1"/>
          <p:nvPr/>
        </p:nvSpPr>
        <p:spPr>
          <a:xfrm>
            <a:off x="6477270" y="1130846"/>
            <a:ext cx="4974771" cy="4351338"/>
          </a:xfrm>
          <a:prstGeom prst="rect">
            <a:avLst/>
          </a:prstGeom>
        </p:spPr>
        <p:txBody>
          <a:bodyPr vert="horz" lIns="91440" tIns="45720" rIns="91440" bIns="45720" rtlCol="0">
            <a:normAutofit fontScale="92500"/>
          </a:bodyPr>
          <a:lstStyle/>
          <a:p>
            <a:pPr defTabSz="914400">
              <a:lnSpc>
                <a:spcPct val="90000"/>
              </a:lnSpc>
              <a:spcAft>
                <a:spcPts val="1000"/>
              </a:spcAft>
              <a:defRPr sz="2000"/>
            </a:pPr>
            <a:r>
              <a:rPr lang="en-US" sz="2400" dirty="0">
                <a:solidFill>
                  <a:schemeClr val="bg1"/>
                </a:solidFill>
              </a:rPr>
              <a:t> 1. User puts a waste item into the input area.</a:t>
            </a:r>
          </a:p>
          <a:p>
            <a:pPr defTabSz="914400">
              <a:lnSpc>
                <a:spcPct val="90000"/>
              </a:lnSpc>
              <a:spcAft>
                <a:spcPts val="1000"/>
              </a:spcAft>
              <a:defRPr sz="2000"/>
            </a:pPr>
            <a:r>
              <a:rPr lang="en-US" sz="2400" dirty="0">
                <a:solidFill>
                  <a:schemeClr val="bg1"/>
                </a:solidFill>
              </a:rPr>
              <a:t> 2. Camera captures its image.</a:t>
            </a:r>
          </a:p>
          <a:p>
            <a:pPr defTabSz="914400">
              <a:lnSpc>
                <a:spcPct val="90000"/>
              </a:lnSpc>
              <a:spcAft>
                <a:spcPts val="1000"/>
              </a:spcAft>
              <a:defRPr sz="2000"/>
            </a:pPr>
            <a:r>
              <a:rPr lang="en-US" sz="2400" dirty="0">
                <a:solidFill>
                  <a:schemeClr val="bg1"/>
                </a:solidFill>
              </a:rPr>
              <a:t> 3. AI predicts the waste category.</a:t>
            </a:r>
          </a:p>
          <a:p>
            <a:pPr defTabSz="914400">
              <a:lnSpc>
                <a:spcPct val="90000"/>
              </a:lnSpc>
              <a:spcAft>
                <a:spcPts val="1000"/>
              </a:spcAft>
              <a:defRPr sz="2000"/>
            </a:pPr>
            <a:r>
              <a:rPr lang="en-US" sz="2400" dirty="0">
                <a:solidFill>
                  <a:schemeClr val="bg1"/>
                </a:solidFill>
              </a:rPr>
              <a:t> 4. Sensors provide supporting information.</a:t>
            </a:r>
          </a:p>
          <a:p>
            <a:pPr defTabSz="914400">
              <a:lnSpc>
                <a:spcPct val="90000"/>
              </a:lnSpc>
              <a:spcAft>
                <a:spcPts val="1000"/>
              </a:spcAft>
              <a:defRPr sz="2000"/>
            </a:pPr>
            <a:r>
              <a:rPr lang="en-US" sz="2400" dirty="0">
                <a:solidFill>
                  <a:schemeClr val="bg1"/>
                </a:solidFill>
              </a:rPr>
              <a:t> 5. Controller selects the correct direction.</a:t>
            </a:r>
          </a:p>
          <a:p>
            <a:pPr defTabSz="914400">
              <a:lnSpc>
                <a:spcPct val="90000"/>
              </a:lnSpc>
              <a:spcAft>
                <a:spcPts val="1000"/>
              </a:spcAft>
              <a:defRPr sz="2000"/>
            </a:pPr>
            <a:r>
              <a:rPr lang="en-US" sz="2400" dirty="0">
                <a:solidFill>
                  <a:schemeClr val="bg1"/>
                </a:solidFill>
              </a:rPr>
              <a:t> 6. Servo/motor moves the flap.</a:t>
            </a:r>
          </a:p>
          <a:p>
            <a:pPr defTabSz="914400">
              <a:lnSpc>
                <a:spcPct val="90000"/>
              </a:lnSpc>
              <a:spcAft>
                <a:spcPts val="1000"/>
              </a:spcAft>
              <a:defRPr sz="2000"/>
            </a:pPr>
            <a:r>
              <a:rPr lang="en-US" sz="2400" dirty="0">
                <a:solidFill>
                  <a:schemeClr val="bg1"/>
                </a:solidFill>
              </a:rPr>
              <a:t> 7. Item falls into the selected compartment.</a:t>
            </a:r>
          </a:p>
          <a:p>
            <a:pPr defTabSz="914400">
              <a:lnSpc>
                <a:spcPct val="90000"/>
              </a:lnSpc>
              <a:spcAft>
                <a:spcPts val="1000"/>
              </a:spcAft>
              <a:defRPr sz="2000"/>
            </a:pPr>
            <a:r>
              <a:rPr lang="en-US" sz="2400" dirty="0">
                <a:solidFill>
                  <a:schemeClr val="bg1"/>
                </a:solidFill>
              </a:rPr>
              <a:t> 8. Weight/fill-level data can be recorded.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A78F06-D55E-612B-0762-BAC7C7EACCE7}"/>
              </a:ext>
            </a:extLst>
          </p:cNvPr>
          <p:cNvSpPr>
            <a:spLocks noGrp="1"/>
          </p:cNvSpPr>
          <p:nvPr>
            <p:ph type="title"/>
          </p:nvPr>
        </p:nvSpPr>
        <p:spPr>
          <a:xfrm>
            <a:off x="838200" y="1748452"/>
            <a:ext cx="4974771" cy="3587786"/>
          </a:xfrm>
        </p:spPr>
        <p:txBody>
          <a:bodyPr>
            <a:normAutofit/>
          </a:bodyPr>
          <a:lstStyle/>
          <a:p>
            <a:r>
              <a:rPr lang="en-US">
                <a:solidFill>
                  <a:schemeClr val="bg1"/>
                </a:solidFill>
              </a:rPr>
              <a:t>Reasons for slow growth of AI-WASTE-SORTER </a:t>
            </a:r>
          </a:p>
        </p:txBody>
      </p:sp>
      <p:grpSp>
        <p:nvGrpSpPr>
          <p:cNvPr id="23"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24" name="Freeform: Shape 23">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27"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9"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31"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32" name="Freeform: Shape 31">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202"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203" name="Freeform: Shape 202">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Content Placeholder 2">
            <a:extLst>
              <a:ext uri="{FF2B5EF4-FFF2-40B4-BE49-F238E27FC236}">
                <a16:creationId xmlns:a16="http://schemas.microsoft.com/office/drawing/2014/main" id="{77743A8F-CA26-EEA0-FD84-42AADE4D7B07}"/>
              </a:ext>
            </a:extLst>
          </p:cNvPr>
          <p:cNvSpPr>
            <a:spLocks noGrp="1"/>
          </p:cNvSpPr>
          <p:nvPr>
            <p:ph idx="1"/>
          </p:nvPr>
        </p:nvSpPr>
        <p:spPr>
          <a:xfrm>
            <a:off x="6477270" y="1130846"/>
            <a:ext cx="4974771" cy="4351338"/>
          </a:xfrm>
        </p:spPr>
        <p:txBody>
          <a:bodyPr>
            <a:normAutofit/>
          </a:bodyPr>
          <a:lstStyle/>
          <a:p>
            <a:pPr lvl="0">
              <a:lnSpc>
                <a:spcPct val="90000"/>
              </a:lnSpc>
            </a:pPr>
            <a:r>
              <a:rPr lang="en-US" sz="1500" b="1" dirty="0">
                <a:solidFill>
                  <a:schemeClr val="bg1"/>
                </a:solidFill>
              </a:rPr>
              <a:t>High cost </a:t>
            </a:r>
            <a:r>
              <a:rPr lang="en-US" sz="1500" dirty="0">
                <a:solidFill>
                  <a:schemeClr val="bg1"/>
                </a:solidFill>
              </a:rPr>
              <a:t>– Camera, AI hardware, sensors, motors, and maintenance increase the cost compared with a normal dustbin. </a:t>
            </a:r>
          </a:p>
          <a:p>
            <a:pPr lvl="0">
              <a:lnSpc>
                <a:spcPct val="90000"/>
              </a:lnSpc>
            </a:pPr>
            <a:r>
              <a:rPr lang="en-US" sz="1500" b="1" dirty="0">
                <a:solidFill>
                  <a:schemeClr val="bg1"/>
                </a:solidFill>
              </a:rPr>
              <a:t>Identification is difficult </a:t>
            </a:r>
            <a:r>
              <a:rPr lang="en-US" sz="1500" dirty="0">
                <a:solidFill>
                  <a:schemeClr val="bg1"/>
                </a:solidFill>
              </a:rPr>
              <a:t> – Some waste looks similar. For example, a dirty plastic container may be difficult for AI to classify correctly. </a:t>
            </a:r>
          </a:p>
          <a:p>
            <a:pPr lvl="0">
              <a:lnSpc>
                <a:spcPct val="90000"/>
              </a:lnSpc>
            </a:pPr>
            <a:r>
              <a:rPr lang="en-US" sz="1500" b="1" dirty="0">
                <a:solidFill>
                  <a:schemeClr val="bg1"/>
                </a:solidFill>
              </a:rPr>
              <a:t>Mixed/dirty waste </a:t>
            </a:r>
            <a:r>
              <a:rPr lang="en-US" sz="1500" dirty="0">
                <a:solidFill>
                  <a:schemeClr val="bg1"/>
                </a:solidFill>
              </a:rPr>
              <a:t>– Food residue, water, or multiple materials in one item can reduce classification accuracy. </a:t>
            </a:r>
          </a:p>
          <a:p>
            <a:pPr lvl="0">
              <a:lnSpc>
                <a:spcPct val="90000"/>
              </a:lnSpc>
            </a:pPr>
            <a:r>
              <a:rPr lang="en-US" sz="1500" b="1" dirty="0">
                <a:solidFill>
                  <a:schemeClr val="bg1"/>
                </a:solidFill>
              </a:rPr>
              <a:t>Different waste categories</a:t>
            </a:r>
            <a:r>
              <a:rPr lang="en-US" sz="1500" dirty="0">
                <a:solidFill>
                  <a:schemeClr val="bg1"/>
                </a:solidFill>
              </a:rPr>
              <a:t> – Household waste varies from home to home, so one AI model may not work perfectly everywhere. </a:t>
            </a:r>
          </a:p>
          <a:p>
            <a:pPr lvl="0">
              <a:lnSpc>
                <a:spcPct val="90000"/>
              </a:lnSpc>
            </a:pPr>
            <a:r>
              <a:rPr lang="en-US" sz="1500" b="1" dirty="0">
                <a:solidFill>
                  <a:schemeClr val="bg1"/>
                </a:solidFill>
              </a:rPr>
              <a:t>Mechanical problems </a:t>
            </a:r>
            <a:r>
              <a:rPr lang="en-US" sz="1500" dirty="0">
                <a:solidFill>
                  <a:schemeClr val="bg1"/>
                </a:solidFill>
              </a:rPr>
              <a:t> – The sorting mechanism can get blocked or damaged by irregularly shaped or wet waste. </a:t>
            </a:r>
          </a:p>
          <a:p>
            <a:pPr lvl="0">
              <a:lnSpc>
                <a:spcPct val="90000"/>
              </a:lnSpc>
            </a:pPr>
            <a:r>
              <a:rPr lang="en-US" sz="1500" b="1" dirty="0">
                <a:solidFill>
                  <a:schemeClr val="bg1"/>
                </a:solidFill>
              </a:rPr>
              <a:t>Power and maintenance </a:t>
            </a:r>
            <a:r>
              <a:rPr lang="en-US" sz="1500" dirty="0">
                <a:solidFill>
                  <a:schemeClr val="bg1"/>
                </a:solidFill>
              </a:rPr>
              <a:t> – Sensors, cameras, motors, and controllers require electricity and occasional cleaning/maintenance. </a:t>
            </a:r>
          </a:p>
          <a:p>
            <a:pPr lvl="0">
              <a:lnSpc>
                <a:spcPct val="90000"/>
              </a:lnSpc>
            </a:pPr>
            <a:r>
              <a:rPr lang="en-US" sz="1500" b="1" dirty="0">
                <a:solidFill>
                  <a:schemeClr val="bg1"/>
                </a:solidFill>
              </a:rPr>
              <a:t>Human behavior </a:t>
            </a:r>
            <a:r>
              <a:rPr lang="en-US" sz="1500" dirty="0">
                <a:solidFill>
                  <a:schemeClr val="bg1"/>
                </a:solidFill>
              </a:rPr>
              <a:t>– People may still need to place waste properly or remove large/unsafe objects.</a:t>
            </a:r>
          </a:p>
          <a:p>
            <a:pPr marL="0" indent="0">
              <a:lnSpc>
                <a:spcPct val="90000"/>
              </a:lnSpc>
              <a:buNone/>
            </a:pPr>
            <a:endParaRPr lang="en-US" sz="1500" dirty="0">
              <a:solidFill>
                <a:schemeClr val="bg1"/>
              </a:solidFill>
            </a:endParaRPr>
          </a:p>
        </p:txBody>
      </p:sp>
    </p:spTree>
    <p:extLst>
      <p:ext uri="{BB962C8B-B14F-4D97-AF65-F5344CB8AC3E}">
        <p14:creationId xmlns:p14="http://schemas.microsoft.com/office/powerpoint/2010/main" val="2723194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EACF5C-495C-3A36-48E2-68951145116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B477342-8FE1-A6CA-2194-EB0DE87B8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C6467509-DB31-0F56-2BA9-F93E3C76A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95255C1-6E0B-C018-3542-B163A9033520}"/>
              </a:ext>
            </a:extLst>
          </p:cNvPr>
          <p:cNvSpPr txBox="1"/>
          <p:nvPr/>
        </p:nvSpPr>
        <p:spPr>
          <a:xfrm>
            <a:off x="838200" y="1748452"/>
            <a:ext cx="4974771" cy="358778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3000" b="1"/>
            </a:pPr>
            <a:r>
              <a:rPr lang="en-US" sz="4400" dirty="0">
                <a:solidFill>
                  <a:schemeClr val="bg1"/>
                </a:solidFill>
              </a:rPr>
              <a:t>Some indirect uses of AI Smart waste sorter </a:t>
            </a:r>
            <a:endParaRPr lang="en-US" sz="4400" kern="1200" dirty="0">
              <a:solidFill>
                <a:schemeClr val="bg1"/>
              </a:solidFill>
              <a:latin typeface="+mj-lt"/>
              <a:ea typeface="+mj-ea"/>
              <a:cs typeface="+mj-cs"/>
            </a:endParaRPr>
          </a:p>
        </p:txBody>
      </p:sp>
      <p:grpSp>
        <p:nvGrpSpPr>
          <p:cNvPr id="12" name="Graphic 190">
            <a:extLst>
              <a:ext uri="{FF2B5EF4-FFF2-40B4-BE49-F238E27FC236}">
                <a16:creationId xmlns:a16="http://schemas.microsoft.com/office/drawing/2014/main" id="{C1506306-C266-C1D3-7A1B-2B4E5448C9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61B3B949-9335-05C7-B568-FAD631A4E8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0984DA7-3B0E-C22E-0C4D-5E9510166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ACA92B77-469D-355E-34FA-7026DD71C0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69FDF171-E258-7B55-2609-695488D8C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637632EF-D0FA-4B43-2CA2-582586EC60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E657B008-3CED-1001-BCD0-EFCF74E6E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A546330-05E5-B270-E892-019B036313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DC0348D-F6CB-EE33-0AEA-298CE8BE15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F4DC5F5-A3C2-993B-FD74-2FE332D8C0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AFFFB76-E87F-F1E1-20EB-8DDD30F88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3BD999E-AF95-CE18-5FAF-0A640A0F33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749DB29-6AFB-6C88-C411-27B30FC38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F278696-73E2-33E3-F781-2E43FD48C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84117F2-D129-AF10-5AF4-982A391B1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5B3FF32-40A2-7358-6ECE-667E21FD4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3BBFEFD1-FF1A-001C-9F91-50331D57F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AB0433-5832-5669-17B9-A1BF86998C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B9F08B2-7476-8443-FE3B-A90E1DF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23947068-D970-64EA-114C-B365437F7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DBD2F8C-0E46-E9AF-1CF3-6B23ED3E8D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B091A86C-9969-9EA4-EE57-2CA26F6EA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CBD7B1A9-D865-35B0-AC1C-C3D0EE85E6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4F54D9B-B4E6-6FC4-4E68-F452421B58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9A6154FF-DA14-FDA0-AED5-D391709BB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8180976E-41D1-E7E7-87CE-BD8347D8ED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21CE0E3A-5D34-B060-C2CF-2D6F1DDD69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94CA5FA-FAE8-A41E-656B-D6C7F37E6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DE31913-6EDA-4B7C-5E32-AB93598D2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4EE61B9-4F11-BEA4-5F19-B82FE4AE3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F38D8887-C9F7-CA1A-38F0-2778F76646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CC95A32A-7B77-1020-1D1E-2BB940192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6193862C-1B45-9390-2816-6BFAC89619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7EA327F9-65F1-14FC-61CA-C5881FE47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25F647A-3572-F270-FE0F-42A1AF1E1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EB2638BA-844C-B758-E6C7-E8BE142ED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617DBE25-B49F-3ECA-C348-A48D9C318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93320B2D-9058-0B72-E8A4-2547998A23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8FE6E281-8001-29E9-B551-64852E52B2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D40493E0-D901-95F2-F519-D008A4938B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CC94AF77-AC36-B164-FA7A-03421759A8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2D66DD48-05FD-FAE3-1221-F340BD437F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1C8E3B60-A439-8F18-99A2-A7A109196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B07EE61D-8840-B54B-7CD2-AC9AF0DEEA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998E4DF9-4861-BD1B-43B8-26F74A2AE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7791D753-3AC7-5E7E-85D6-8F6DDBC737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88D4919E-C120-FCFE-3620-1FBCA4E8B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D47186FF-1CC9-94DC-EC16-DCB7AE268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23146071-DF09-B5C6-C7FD-48C33E7C3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E76D6C3-18FF-4152-6FE7-98BE6A41C4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AF94C9BB-D426-ED66-509D-C3E94A2E5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FC5168D3-170E-DF49-C219-2244C9EAE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873B5323-DF0F-BB74-6A3D-B92E4561B6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36C5AC20-1138-E4C5-C294-4DA0FA6E60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C359497F-DA3D-7A72-5FE6-DF09E7118A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54065C3-E29C-E590-756E-A5C8360347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0D59B84-7916-C808-FEA0-E8D1808DD2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38AE6C76-81C1-57A5-243E-8D1C9AA892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321C5C79-478C-F730-D984-867628D30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161324BF-FC43-D5C3-C24F-E0C3726A2D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F39FB9CC-8375-59A7-8CCA-260D3BB50C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817601C1-8F96-3708-9639-B0C08F7F2B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CA34C4CD-6846-4ADF-6BD9-0DDA00D0FC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B784A13F-F402-45F4-2F89-0F2B334CCD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5B76F11-62AB-11B6-4213-9D1B104A32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6FA75CB1-BD34-A821-6ED1-4F2B630FD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ECB6852A-4CCE-A493-B73E-09599B5C7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08E1307-0CDB-B489-78C2-EDB7548BA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D0C7F0F4-2AFE-60BE-C442-236D19ED3A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1A79A496-ABA6-4FBA-250B-01D5D522B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6CFE8DB-C51C-0F67-3D1D-7F74A2E8BA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D17D2483-6545-DC3D-5A55-29A12794BF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0E9D4B8C-F7A0-4BFA-EE92-328FBF3D14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AACA6E47-B9F3-5662-6C40-90DBE8EEC5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F94E63A4-C018-0F3F-8D8B-01094DBF82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F43DEE3C-2FD0-0AC2-9C02-AC7DA05FC1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12E97001-F4D0-8912-2FA7-503EAB209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D44C3A3A-AA51-3D7B-40AE-57EA106F76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E158771B-8050-41E2-9266-B671C9786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3936E93A-9F58-43A0-7ACA-5DD65E6AB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A0310B15-EA56-AF43-074D-566B0688A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8FCE082-A1FB-C14E-A6C4-668DCF45BD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C485DC1B-19D0-83A7-DF6B-CEE335B1FC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00FDEBC2-F0B4-6AA9-036B-37055827D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E6C57E7-C24C-2B78-1128-695FAFCD83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53644CEF-62EE-EC7E-5008-B608D712E1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841092A2-9142-75F2-B890-5D4335CDB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9098FB73-322D-9B05-59E1-0B8A5C77D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D6B7269B-BDF0-10D9-877A-1315EA0233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9E18BBB3-7BCA-0244-0133-3A819B808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24611D5B-A87E-3614-5B04-F0A0D69C4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B2F2EFF5-0B44-9A9B-1C7E-F93CC4108C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E7DC096D-1A10-8D50-A1C2-DB6CE9814B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80F7A8A6-8165-E736-F110-AF10FFA0B6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60CC3CA7-D006-5605-E323-EED3A5B9B2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29D4790C-3FB7-A704-B7EE-F787CAA9E7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9D313746-81C6-9C3C-9C20-851C53364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BF9056BC-7464-3E66-4886-C2F85EE03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70B98C87-7FCD-6AF2-EBEF-20FB5C359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A68687C-5E89-D93E-A90B-FBB5AABD5D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1273E0F8-F9A2-34CA-0C8F-2098C1950E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C50C56C9-CF2A-E48C-5552-A7E1557085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D7CC505-98C2-806B-F788-E809F3F698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D1B74AC3-D8E1-EFA8-90A4-EB3261F11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9178FC1D-B0DC-5C7C-D644-CF4039A821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DFAC2D0F-5E3A-A525-4CBB-0D2913652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F08D6699-3115-E0E5-CA7C-5E6DA4D63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05E1539C-4616-7803-F174-695C8E6A24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6110032-326E-3E98-9B7A-3E40EEAC8F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468847E6-5435-3A5E-43F1-D38FDFF443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6E918AAA-4FE2-8E72-803B-7E6F48B38B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81278325-EA87-5531-3D11-C96D7E248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7AD0DC05-9B42-82FE-8BC7-4EF23DD37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28C3178A-77E8-B8DE-2573-FA459AB0AE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ABAD88E5-12AC-90FC-F990-6F77BB1D80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08F4B26E-A84D-CDF2-1C36-819A3E73F9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0D2C685F-20DD-20CF-34C8-524671088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8C84A89C-0C0A-BFBF-6FFF-D086CBA3C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45E0F627-30E3-4A9A-F619-2ECF87EDEC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67B6F46D-F507-F9D4-890B-9374030E9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749831EB-5347-136C-09B4-CE2806B6C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75F2554F-7B12-A7F2-D4A8-59F536D74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5FFE17CD-CB6B-3D00-77F5-B57F89A0D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59BB13FD-6D50-3EBD-4796-EC97094FC0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CEED95BC-8AA2-0B08-4E8B-B812093831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B3C0AA4A-FCA2-C75B-B8B9-D5D9106184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49114F9A-1594-9DFC-C59B-DCD2C8A99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C121C24C-1BE3-6271-9219-7E0CDEDFC9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21F48CC1-ACC3-8C4D-9093-FF790B4CA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588753C8-9C4C-ABBF-CA44-EA1619725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54EE06E0-5427-B31F-0FAB-94A9177960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AD74DCA8-AE7A-3337-E475-B57E82081C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D0DA75AF-0EDE-EA91-0FE3-4607DC3CA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F107D002-948F-0448-8B1D-F7020DC943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AF7B0471-0FE4-A282-B924-DF32D9552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39CE4CD0-F34F-2A07-4BD2-DBE34E4CB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4EE628C6-CA01-A652-8DE4-9F893C35A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A499B105-7C4C-4763-FC9F-485B8DDF83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A7E2745E-B42C-E593-FB79-35FBD8C47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2DC7FC2F-A627-DE00-49D1-5149C569E2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8A75A436-66D3-BA6E-5429-AC24321628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31B3A8FD-1289-7020-F10C-07812A9E98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C6154B26-F51A-BAD2-09D9-DAA940191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9D651D7A-3D15-DCEA-B365-836792A6A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8C01E78E-5802-F7D1-739D-7D655217B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4F3EBC06-1126-0DAD-643D-84585F5EC8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0478B94-A359-9D3B-BABB-E7106619D8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E4A9C4D8-5463-7E43-7EA4-19304FC311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EA88CF55-0E00-8069-D0E4-BEC9E7263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E2ADA0A7-54ED-362B-81E4-663A032636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C932E416-E51F-AA49-2F81-8307C1D28C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009374C9-5F1F-4AC1-F1F0-50439D7A2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246DEA64-0508-3DAE-AFF4-E39E1EFD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94E1F20D-C7B1-6680-15BE-E98D79703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B7C5BDC6-FA6C-132D-4EC1-E792C63C78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0116367C-7E86-B5B1-97C0-3828AEE7C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F3C79CD-7196-344D-FB57-CCE2417D3D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6276C12B-054C-A02D-4710-3F239BC61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7B64F33D-2225-1B61-DADE-7F9180254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4FB8286B-FADD-63E5-755F-2DE5B34B9A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B2D2CE85-B2F2-E9E3-3386-0A300321A1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4FF22488-91DF-52AF-52D7-AB7DB6068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D8253468-4054-01BF-1398-2761CB640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CAE7A4DF-E289-2FCF-7B3E-BDAF4E76D6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8B77BAE4-909A-14EE-47CC-F7F5F08853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8D9354DB-8347-25D4-045A-704107639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23EC4B3B-74BB-1758-3421-11D676FE5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3718842B-F2EC-2307-3E44-07F8638D32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6187B47F-4A5E-40D4-BFCC-E505F10A8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1D6F0951-A984-8C88-0CA1-370361D1C2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8BDE02FE-269C-5F58-05AE-5463EB1B80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75AEC18E-C5A9-070D-5F71-4E8E77A821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2920630-BB52-0AD4-3C0C-11A715CC88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B575E058-568C-7403-E4F1-500032116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99EB4463-0D10-FBF8-64DD-98E35090A6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41A56E18-E93C-D5A7-8C76-D54BA78232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E801BA2D-5C61-FB9D-1589-7F0CD63A2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ECA35B4E-6974-0B84-1683-EA469FEEF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93FD4D1-1FFA-7E9E-90F5-3A090AF414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845BBF3C-9B23-6100-AFB9-3622ED20B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911CD25B-AE42-5910-66BD-7A3C794420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3CD8148A-E2A7-A658-D251-1559BA0FB5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BB7F57D-55F7-FFC1-8D25-4F26A88E34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617A18C0-E97E-2AD3-08A7-96BECEE38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3A211D00-DE36-9830-78CB-2C4F65DE03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E0F36486-E332-7301-5895-5D0122ECE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0EC03FC7-9D81-705F-29AA-691AAE7FA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03888443-06FC-D7E9-6114-6E44344FC6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3DF084F9-7C25-6FBA-FF8A-9F6E00059A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6BE37945-042A-2883-B86D-98E6913F03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1F2DDC23-F8AE-18F2-B143-31EABA6D91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E90A613-06F6-9C55-088D-8C40A0873B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7E9B2A25-3ACE-FBF2-C8E8-4B7323338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4E0AC9B9-19C6-8E33-3678-F857ACADD7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E949254E-192F-E2FD-D806-B0D902DD9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41E2A413-BCDC-DC26-8FEF-E75AC2A3B5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CE782D8-0398-00B7-5E4B-C91B137FC3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9C6FE00C-9FCE-8453-3088-440B0B28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02BD8C4B-87CF-8869-EC01-3940809C3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B5FDAD79-6730-84C9-B816-5E991FD30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81931A4D-7EA3-285C-51FA-A415EF7DE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FD3B4579-C337-C8D0-AEA7-20A3350492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FB2CC8F1-AC92-AB96-A464-C0BDBB149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084C3C2D-57FE-F0E8-C039-69F8E3AEB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24FD6FF3-79C4-7E99-39BA-F6A00186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DDAED504-FF18-8BC9-0F5C-6F43304C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C4701900-F336-65BC-CE84-8152CB29D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35C09974-17A3-77B5-DFB0-D26FAA850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476AFE56-B635-4930-345F-A40C9C7166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2D1D6448-03E4-F114-FACC-A2BCB6E60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9A224849-BBC3-D3B0-7F7B-04AC5F87E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0BC3F49D-2A06-AA3D-74E3-490B377E4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2E01C92E-7FAD-37ED-7EE1-21BF8E7F9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12B35593-D58A-EE8E-DBD9-2F467C1951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0F3B50DB-F6EE-F00C-A2C1-0523C316D8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5D99A8E2-5F46-FEEE-24E7-B3733BFB52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73FF2B8C-C2B5-F908-6246-FBBE360E49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8BE137E5-C24B-D830-C783-D54FA13355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1CC652FC-6578-03A4-531C-A0E9F7CDE5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D3F1557C-5C3B-8B7B-544C-47451FCB7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EA508290-A2EE-318E-9005-872255C33F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11674E03-9DE3-739E-A1B6-59C69CE114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94E66DD8-57B9-E25A-D1FF-F7DAE23B1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CD75D1D8-BE5B-42E2-8507-C2628C14A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F1F5B41C-6C87-73C8-D8F0-2BF5483C87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82707570-9876-F201-3772-6422B2DC7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61D7F7B3-E059-6369-51EF-ABAD88A7B6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D12D088E-8913-0116-AF6B-59C2F3C24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EB6C6F38-B57C-BEC4-8B8D-0E0C33A42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A54B17BB-6FDA-D50F-5515-FAA76E3891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93757035-19B3-49ED-A9D5-BA76AB8023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601D0266-93BF-EF43-23B6-1BF77DC67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8EDD1822-81AB-9BE0-5182-BBC475AF35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C718827D-BA0E-30E6-9F01-E2B32A3B5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EC258327-86FB-A13A-BBC2-0E943E5A60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A89DB809-7ACA-B6A1-4594-1E2BAC534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D9DC08E5-D2B5-4782-6107-3832047221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3E0AFE63-766C-6F1E-2CAC-5C92DC22E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DB8FF747-01A0-8095-70E6-E3762A08D5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4CE602B9-EC0D-2F6C-1D93-FBACB2FA8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78BBDE34-1D61-8C7C-D65C-7FAAA47227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7E695CF3-D713-9CF5-025B-8AD79F34B2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AD018F23-573B-4241-C649-6AAD0C524A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C7E35343-DCEB-8975-DAC7-7217E7AD9B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A9C1B4C1-E252-0834-9FC7-7D667533D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F4B4D672-AF16-2C5B-2018-FD137B53D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612B5506-08D8-576E-B556-6EACE40349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001F3FAE-7C52-9917-FF61-1BAB4424E2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00076AF6-FC5F-B8E7-F7A5-116A625569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B0E5AA24-BB83-ABB2-3127-8DCDD5489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82190F09-BBF5-3A72-59C6-95255570B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ADF64D02-8E6C-8D91-7273-3525C2D726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20D39836-6875-D2C6-E002-3CA26E168F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8AF75BE0-4BAE-E2CB-25C7-60BF138AF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E426EAC4-2570-7744-8CF6-E0125B680A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38B16F80-1446-6E2A-9F48-FD73E3318F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46954AA8-B13E-DB14-3415-8AD85D8CF5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66CD8D84-6031-0F3F-3508-5E44595FC1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09A614D1-D9CB-CAFC-C86C-2EFD79207A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64BD7F9F-2CBC-0F14-F805-30E675144D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8196A6C5-1420-77A5-A2D9-FA4020065D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BB65D017-BE39-4135-837E-0BA5D8F0CE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D40B9A49-2436-6EB1-614F-9775334ACE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84428F80-BCE9-9509-3A50-74B8A2F98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CE0A1972-9D42-E735-B5F1-A01538A237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EA9C55F-2C6A-10D5-FD05-37B5F7296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EF4687D1-1EEA-6AD7-8C4B-2A0F1147D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9F0A97EF-FA8A-0F89-A794-072AA5A0B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EE08A816-C3E8-1C0E-8E93-09CD8A543E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404F61A6-7164-2BFA-D4C4-C2BFAAF7C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B5B10795-32DC-0C66-EE6E-D6A1096937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D5CB1F7-263E-B83E-94CF-FDE235C132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F8E5AA2C-3905-0B0B-5EC4-84C95E435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D6239FCD-5C4A-9B4D-452F-CAE1E67632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EAB3D9C5-13F4-6830-C715-A72411758A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38EDE2E5-C2D8-5F0A-65E7-01EC9087D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C6137CD6-0C93-6297-27D0-28DA331AE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0D8A2CE9-E0E1-7943-A079-C9E4709ADA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9D9BCA17-A521-5990-50C3-1904C0BA00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C47968E1-39CE-145E-2994-AECADADC53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3F92BE55-5B2D-677C-7029-6C64C1800A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F7E6FD5C-356A-D730-E1FE-83F7565B1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AA32729F-682E-D85E-67EB-392C59A3F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94FC78BD-6DF6-4D8A-26E4-20B8B4934C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390E12EF-7BC6-A562-1826-6CD30F040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A2EA54EB-CA7A-3DB5-BB03-65CC9CD48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1A2746DF-53BB-BC29-BE19-0D51C12F64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DB12738B-7026-68F7-ED83-5BDCAE8D69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63D63067-205C-5C50-4BBC-AE74437F5B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5DDD0BE3-AFD8-72D7-34A5-43A314C5E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11355B3-A9E0-9606-3487-3C78664FCB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D96E7F21-EEF3-A8D8-17BE-017C986D4B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EB50FF91-88CA-137F-9770-DB08B888AB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36917D1C-19E4-1DAD-EEB7-37E68BC807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276C2E14-FED0-81F2-30E2-CC7AB7EFC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FB64389D-2336-EFF0-C311-5EAAF42D9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832D09D8-EB2C-AFE5-28E5-310411D6D4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6B6523EA-A048-36A1-05B1-92DEC71DA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F524B4EC-42CF-AEC7-3351-8EBAA953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60C5FE57-69E4-8300-B19B-1FA74BF0B2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534A4E70-F35E-7360-8BF9-6D89DEB41E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A6FA8572-D1DB-9FE2-41D0-B66449551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4B2414F1-E8F5-90BB-1777-584199BDF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081FB1F3-DA22-3917-ED74-41B4D95AC9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E119B26F-4022-2320-4E12-DE4DA5E13A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731BE583-DDAF-823F-CE5C-958F78029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7D833C0A-8C4B-F6E6-F530-3AAA617E1A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7230B687-88CA-F110-BD13-791931F03B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36A109DD-3AA2-AD75-FC02-906CF57E3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906CA626-0FC3-34A3-2E92-59486D6F1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CAF8326C-7F1D-7724-2A7E-5E3248A78A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2A93C059-99B1-79A6-DE34-3A8B08AC1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815C00A3-9A12-D481-793C-74B22A900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653C039C-ADDD-090A-7824-D2224FCB0F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7203FDDB-709D-B4DA-5DC0-3389C5A27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EFED97E0-D84E-41BD-32B4-C90849976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ED7C79A2-9064-DDB1-9974-871BA89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832DB063-5A72-3463-DBB2-D0982EB3D2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D3D79DE-8039-6332-EA38-ADC2843AB1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80BF0967-4735-7A98-8036-B50084914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9DE3799F-9685-0817-BC2C-860B9D72F2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DDB67A56-3666-B6E9-1579-E647C590D2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6362C0F-3EC9-1626-5BFF-1509B4E351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CFC48342-0B99-7AFD-50E3-67422D1A9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DF60B2EC-9B9A-2ABA-4532-F0D5DBD95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37DA4AE1-00A6-5BA2-E5A0-E89DBA5F4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8C0447ED-841A-044B-19FB-8D4BB2C57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A97755ED-76B0-E659-E7DD-02F9DEC0A9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6310174B-9C8B-CC8C-4F22-40475ECDD1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44B134F-6668-B112-2AD8-50BCA59442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E3DD3CAE-5F62-F8F7-FFBE-F6FAD30BA6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7B2D3AD3-692D-F562-17A2-4A307CCDEE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C2C309EC-2DD2-313F-90CF-A3ABCC95E3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FBE788AC-A65D-D320-3979-987A14C9CE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5DB31F42-BA51-C660-EC73-5AB5190B7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C556C7D-9A93-2FD6-4511-B136424F69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9301447-CB1C-AC73-0188-C49852868C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359D550-F021-210C-27F7-DB408130ED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B21E575D-98F4-EAE4-0A3C-6631A129B9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7E8BF82F-AE16-6EC7-4AC6-4EFEC56689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DBCE000A-0AEA-48AE-7369-5378421549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D6396B42-7055-31A7-A8DB-AFD51ACA08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EB621DD0-09F2-3D06-6BA5-9A07D1B9C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67D283A1-6B19-0DC8-C7FD-35E0B702B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6653230B-099B-A1E2-A901-9C399EE16B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a:extLst>
              <a:ext uri="{FF2B5EF4-FFF2-40B4-BE49-F238E27FC236}">
                <a16:creationId xmlns:a16="http://schemas.microsoft.com/office/drawing/2014/main" id="{1512D5A5-9D08-D59E-D49E-776B155B815E}"/>
              </a:ext>
            </a:extLst>
          </p:cNvPr>
          <p:cNvSpPr txBox="1"/>
          <p:nvPr/>
        </p:nvSpPr>
        <p:spPr>
          <a:xfrm>
            <a:off x="6477270" y="1130846"/>
            <a:ext cx="4974771" cy="4351338"/>
          </a:xfrm>
          <a:prstGeom prst="rect">
            <a:avLst/>
          </a:prstGeom>
        </p:spPr>
        <p:txBody>
          <a:bodyPr vert="horz" lIns="91440" tIns="45720" rIns="91440" bIns="45720" rtlCol="0">
            <a:normAutofit/>
          </a:bodyPr>
          <a:lstStyle/>
          <a:p>
            <a:pPr defTabSz="914400">
              <a:lnSpc>
                <a:spcPct val="90000"/>
              </a:lnSpc>
              <a:spcAft>
                <a:spcPts val="1000"/>
              </a:spcAft>
              <a:defRPr sz="2000"/>
            </a:pPr>
            <a:endParaRPr lang="en-US" sz="2000" dirty="0">
              <a:solidFill>
                <a:schemeClr val="bg1"/>
              </a:solidFill>
            </a:endParaRPr>
          </a:p>
        </p:txBody>
      </p:sp>
      <p:sp>
        <p:nvSpPr>
          <p:cNvPr id="4" name="TextBox 3">
            <a:extLst>
              <a:ext uri="{FF2B5EF4-FFF2-40B4-BE49-F238E27FC236}">
                <a16:creationId xmlns:a16="http://schemas.microsoft.com/office/drawing/2014/main" id="{DBA3C43C-28CD-76BD-746A-FDA55917CFA4}"/>
              </a:ext>
            </a:extLst>
          </p:cNvPr>
          <p:cNvSpPr txBox="1"/>
          <p:nvPr/>
        </p:nvSpPr>
        <p:spPr>
          <a:xfrm>
            <a:off x="6187561" y="575361"/>
            <a:ext cx="5872345" cy="5410712"/>
          </a:xfrm>
          <a:prstGeom prst="rect">
            <a:avLst/>
          </a:prstGeom>
          <a:noFill/>
        </p:spPr>
        <p:txBody>
          <a:bodyPr wrap="square" rtlCol="0">
            <a:spAutoFit/>
          </a:bodyPr>
          <a:lstStyle/>
          <a:p>
            <a:pPr>
              <a:lnSpc>
                <a:spcPct val="90000"/>
              </a:lnSpc>
            </a:pPr>
            <a:r>
              <a:rPr lang="en-US" sz="1600" b="1" dirty="0">
                <a:solidFill>
                  <a:schemeClr val="bg1"/>
                </a:solidFill>
              </a:rPr>
              <a:t>1. Reduction in fertilizer imports</a:t>
            </a:r>
          </a:p>
          <a:p>
            <a:pPr lvl="0">
              <a:lnSpc>
                <a:spcPct val="90000"/>
              </a:lnSpc>
            </a:pPr>
            <a:r>
              <a:rPr lang="en-US" sz="1600" dirty="0">
                <a:solidFill>
                  <a:schemeClr val="bg1"/>
                </a:solidFill>
              </a:rPr>
              <a:t>• The sorter separates </a:t>
            </a:r>
            <a:r>
              <a:rPr lang="en-US" sz="1600" b="1" dirty="0">
                <a:solidFill>
                  <a:schemeClr val="bg1"/>
                </a:solidFill>
              </a:rPr>
              <a:t>biodegradable kitchen waste</a:t>
            </a:r>
            <a:r>
              <a:rPr lang="en-US" sz="1600" dirty="0">
                <a:solidFill>
                  <a:schemeClr val="bg1"/>
                </a:solidFill>
              </a:rPr>
              <a:t> from plastic and other waste. </a:t>
            </a:r>
          </a:p>
          <a:p>
            <a:pPr lvl="0">
              <a:lnSpc>
                <a:spcPct val="90000"/>
              </a:lnSpc>
            </a:pPr>
            <a:r>
              <a:rPr lang="en-US" sz="1600" dirty="0">
                <a:solidFill>
                  <a:schemeClr val="bg1"/>
                </a:solidFill>
              </a:rPr>
              <a:t>• Organic waste can be sent for </a:t>
            </a:r>
            <a:r>
              <a:rPr lang="en-US" sz="1600" b="1" dirty="0">
                <a:solidFill>
                  <a:schemeClr val="bg1"/>
                </a:solidFill>
              </a:rPr>
              <a:t>composting or other organic-waste processing</a:t>
            </a:r>
            <a:r>
              <a:rPr lang="en-US" sz="1600" dirty="0">
                <a:solidFill>
                  <a:schemeClr val="bg1"/>
                </a:solidFill>
              </a:rPr>
              <a:t>. </a:t>
            </a:r>
          </a:p>
          <a:p>
            <a:pPr lvl="0">
              <a:lnSpc>
                <a:spcPct val="90000"/>
              </a:lnSpc>
            </a:pPr>
            <a:r>
              <a:rPr lang="en-US" sz="1600" dirty="0">
                <a:solidFill>
                  <a:schemeClr val="bg1"/>
                </a:solidFill>
              </a:rPr>
              <a:t>• The resulting compost can provide nutrients and organic matter for soil. </a:t>
            </a:r>
          </a:p>
          <a:p>
            <a:pPr>
              <a:lnSpc>
                <a:spcPct val="90000"/>
              </a:lnSpc>
            </a:pPr>
            <a:r>
              <a:rPr lang="en-US" sz="1600" b="1" dirty="0">
                <a:solidFill>
                  <a:schemeClr val="bg1"/>
                </a:solidFill>
              </a:rPr>
              <a:t>---Flow:</a:t>
            </a:r>
            <a:br>
              <a:rPr lang="en-US" sz="1600" dirty="0">
                <a:solidFill>
                  <a:schemeClr val="bg1"/>
                </a:solidFill>
              </a:rPr>
            </a:br>
            <a:r>
              <a:rPr lang="en-US" sz="1600" b="1" dirty="0">
                <a:solidFill>
                  <a:schemeClr val="bg1"/>
                </a:solidFill>
              </a:rPr>
              <a:t>Kitchen waste → AI sorting → Organic waste → Compost → Soil nutrients → Reduced fertilizer requirement</a:t>
            </a:r>
            <a:endParaRPr lang="en-US" sz="1600" dirty="0">
              <a:solidFill>
                <a:schemeClr val="bg1"/>
              </a:solidFill>
            </a:endParaRPr>
          </a:p>
          <a:p>
            <a:pPr>
              <a:lnSpc>
                <a:spcPct val="90000"/>
              </a:lnSpc>
            </a:pPr>
            <a:r>
              <a:rPr lang="en-US" sz="1600" b="1" dirty="0">
                <a:solidFill>
                  <a:schemeClr val="bg1"/>
                </a:solidFill>
              </a:rPr>
              <a:t>2. Reduction in CNG requirement</a:t>
            </a:r>
          </a:p>
          <a:p>
            <a:pPr lvl="0">
              <a:lnSpc>
                <a:spcPct val="90000"/>
              </a:lnSpc>
            </a:pPr>
            <a:r>
              <a:rPr lang="en-US" sz="1600" dirty="0">
                <a:solidFill>
                  <a:schemeClr val="bg1"/>
                </a:solidFill>
              </a:rPr>
              <a:t>• Properly separated organic waste can be processed through </a:t>
            </a:r>
            <a:r>
              <a:rPr lang="en-US" sz="1600" b="1" dirty="0">
                <a:solidFill>
                  <a:schemeClr val="bg1"/>
                </a:solidFill>
              </a:rPr>
              <a:t>anaerobic digestion</a:t>
            </a:r>
            <a:r>
              <a:rPr lang="en-US" sz="1600" dirty="0">
                <a:solidFill>
                  <a:schemeClr val="bg1"/>
                </a:solidFill>
              </a:rPr>
              <a:t>. </a:t>
            </a:r>
          </a:p>
          <a:p>
            <a:pPr lvl="0">
              <a:lnSpc>
                <a:spcPct val="90000"/>
              </a:lnSpc>
            </a:pPr>
            <a:r>
              <a:rPr lang="en-US" sz="1600" dirty="0">
                <a:solidFill>
                  <a:schemeClr val="bg1"/>
                </a:solidFill>
              </a:rPr>
              <a:t>• This produces </a:t>
            </a:r>
            <a:r>
              <a:rPr lang="en-US" sz="1600" b="1" dirty="0">
                <a:solidFill>
                  <a:schemeClr val="bg1"/>
                </a:solidFill>
              </a:rPr>
              <a:t>biogas</a:t>
            </a:r>
            <a:r>
              <a:rPr lang="en-US" sz="1600" dirty="0">
                <a:solidFill>
                  <a:schemeClr val="bg1"/>
                </a:solidFill>
              </a:rPr>
              <a:t>, which can be upgraded to biomethane. </a:t>
            </a:r>
          </a:p>
          <a:p>
            <a:pPr lvl="0">
              <a:lnSpc>
                <a:spcPct val="90000"/>
              </a:lnSpc>
            </a:pPr>
            <a:r>
              <a:rPr lang="en-US" sz="1600" dirty="0">
                <a:solidFill>
                  <a:schemeClr val="bg1"/>
                </a:solidFill>
              </a:rPr>
              <a:t>• Biomethane can be used as a gaseous fuel and, after appropriate upgrading and compression, can serve applications similar to CNG.  </a:t>
            </a:r>
          </a:p>
          <a:p>
            <a:pPr>
              <a:lnSpc>
                <a:spcPct val="90000"/>
              </a:lnSpc>
            </a:pPr>
            <a:r>
              <a:rPr lang="en-US" sz="1600" b="1" dirty="0">
                <a:solidFill>
                  <a:schemeClr val="bg1"/>
                </a:solidFill>
              </a:rPr>
              <a:t>---Flow:</a:t>
            </a:r>
            <a:br>
              <a:rPr lang="en-US" sz="1600" dirty="0">
                <a:solidFill>
                  <a:schemeClr val="bg1"/>
                </a:solidFill>
              </a:rPr>
            </a:br>
            <a:r>
              <a:rPr lang="en-US" sz="1600" b="1" dirty="0">
                <a:solidFill>
                  <a:schemeClr val="bg1"/>
                </a:solidFill>
              </a:rPr>
              <a:t>Organic waste → AI sorting → Anaerobic digestion → Biogas → Upgraded biomethane → Vehicle/energy fuel</a:t>
            </a:r>
            <a:endParaRPr lang="en-US" sz="1600" dirty="0">
              <a:solidFill>
                <a:schemeClr val="bg1"/>
              </a:solidFill>
            </a:endParaRPr>
          </a:p>
          <a:p>
            <a:pPr>
              <a:lnSpc>
                <a:spcPct val="90000"/>
              </a:lnSpc>
            </a:pPr>
            <a:r>
              <a:rPr lang="en-US" sz="1600" b="1" dirty="0">
                <a:solidFill>
                  <a:schemeClr val="bg1"/>
                </a:solidFill>
              </a:rPr>
              <a:t> 3. More biogas production</a:t>
            </a:r>
          </a:p>
          <a:p>
            <a:pPr>
              <a:lnSpc>
                <a:spcPct val="90000"/>
              </a:lnSpc>
            </a:pPr>
            <a:r>
              <a:rPr lang="en-US" sz="1600" dirty="0">
                <a:solidFill>
                  <a:schemeClr val="bg1"/>
                </a:solidFill>
              </a:rPr>
              <a:t>• The biggest advantage of segregation is </a:t>
            </a:r>
            <a:r>
              <a:rPr lang="en-US" sz="1600" b="1" dirty="0">
                <a:solidFill>
                  <a:schemeClr val="bg1"/>
                </a:solidFill>
              </a:rPr>
              <a:t>keeping plastic, metal and other contaminants out of organic waste</a:t>
            </a:r>
            <a:r>
              <a:rPr lang="en-US" sz="1600" dirty="0">
                <a:solidFill>
                  <a:schemeClr val="bg1"/>
                </a:solidFill>
              </a:rPr>
              <a:t>.</a:t>
            </a:r>
          </a:p>
          <a:p>
            <a:pPr>
              <a:lnSpc>
                <a:spcPct val="90000"/>
              </a:lnSpc>
            </a:pPr>
            <a:r>
              <a:rPr lang="en-US" sz="1600" dirty="0">
                <a:solidFill>
                  <a:schemeClr val="bg1"/>
                </a:solidFill>
              </a:rPr>
              <a:t>• Cleaner organic feedstock is more suitable for anaerobic digestion, making the waste stream more useful for biogas production.</a:t>
            </a:r>
          </a:p>
        </p:txBody>
      </p:sp>
    </p:spTree>
    <p:extLst>
      <p:ext uri="{BB962C8B-B14F-4D97-AF65-F5344CB8AC3E}">
        <p14:creationId xmlns:p14="http://schemas.microsoft.com/office/powerpoint/2010/main" val="3604253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38200" y="1748452"/>
            <a:ext cx="4974771" cy="3587786"/>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defRPr sz="3000" b="1"/>
            </a:pPr>
            <a:r>
              <a:rPr lang="en-US" sz="4400" kern="1200" dirty="0">
                <a:solidFill>
                  <a:schemeClr val="bg1"/>
                </a:solidFill>
                <a:latin typeface="+mj-lt"/>
                <a:ea typeface="+mj-ea"/>
                <a:cs typeface="+mj-cs"/>
              </a:rPr>
              <a:t> Conclusion</a:t>
            </a:r>
          </a:p>
        </p:txBody>
      </p:sp>
      <p:grpSp>
        <p:nvGrpSpPr>
          <p:cNvPr id="12"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TextBox 2"/>
          <p:cNvSpPr txBox="1"/>
          <p:nvPr/>
        </p:nvSpPr>
        <p:spPr>
          <a:xfrm>
            <a:off x="6477270" y="1130846"/>
            <a:ext cx="4974771" cy="4351338"/>
          </a:xfrm>
          <a:prstGeom prst="rect">
            <a:avLst/>
          </a:prstGeom>
        </p:spPr>
        <p:txBody>
          <a:bodyPr vert="horz" lIns="91440" tIns="45720" rIns="91440" bIns="45720" rtlCol="0">
            <a:normAutofit/>
          </a:bodyPr>
          <a:lstStyle/>
          <a:p>
            <a:pPr defTabSz="914400">
              <a:lnSpc>
                <a:spcPct val="90000"/>
              </a:lnSpc>
              <a:spcAft>
                <a:spcPts val="1000"/>
              </a:spcAft>
              <a:defRPr sz="2000"/>
            </a:pPr>
            <a:r>
              <a:rPr lang="en-US" sz="2000" dirty="0">
                <a:solidFill>
                  <a:schemeClr val="bg1"/>
                </a:solidFill>
              </a:rPr>
              <a:t>• AI can assist households in separating common waste automatically.</a:t>
            </a:r>
          </a:p>
          <a:p>
            <a:pPr defTabSz="914400">
              <a:lnSpc>
                <a:spcPct val="90000"/>
              </a:lnSpc>
              <a:spcAft>
                <a:spcPts val="1000"/>
              </a:spcAft>
              <a:defRPr sz="2000"/>
            </a:pPr>
            <a:r>
              <a:rPr lang="en-US" sz="2000" dirty="0">
                <a:solidFill>
                  <a:schemeClr val="bg1"/>
                </a:solidFill>
              </a:rPr>
              <a:t>• The proposed system combines computer vision, sensors and an automatic mechanism.</a:t>
            </a:r>
          </a:p>
          <a:p>
            <a:pPr defTabSz="914400">
              <a:lnSpc>
                <a:spcPct val="90000"/>
              </a:lnSpc>
              <a:spcAft>
                <a:spcPts val="1000"/>
              </a:spcAft>
              <a:defRPr sz="2000"/>
            </a:pPr>
            <a:r>
              <a:rPr lang="en-US" sz="2000" dirty="0">
                <a:solidFill>
                  <a:schemeClr val="bg1"/>
                </a:solidFill>
              </a:rPr>
              <a:t>• The main focus is a practical, low-cost domestic prototype.</a:t>
            </a:r>
          </a:p>
          <a:p>
            <a:pPr defTabSz="914400">
              <a:lnSpc>
                <a:spcPct val="90000"/>
              </a:lnSpc>
              <a:spcAft>
                <a:spcPts val="1000"/>
              </a:spcAft>
              <a:defRPr sz="2000"/>
            </a:pPr>
            <a:r>
              <a:rPr lang="en-US" sz="2000" dirty="0">
                <a:solidFill>
                  <a:schemeClr val="bg1"/>
                </a:solidFill>
              </a:rPr>
              <a:t>• Goal: identify → verify → sort → monitor household waste.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F4359BC-3313-54F8-A76E-79A586783734}"/>
              </a:ext>
            </a:extLst>
          </p:cNvPr>
          <p:cNvSpPr>
            <a:spLocks noGrp="1"/>
          </p:cNvSpPr>
          <p:nvPr>
            <p:ph type="ctrTitle"/>
          </p:nvPr>
        </p:nvSpPr>
        <p:spPr>
          <a:xfrm>
            <a:off x="3581400" y="965580"/>
            <a:ext cx="5204489" cy="3160593"/>
          </a:xfrm>
        </p:spPr>
        <p:txBody>
          <a:bodyPr>
            <a:normAutofit/>
          </a:bodyPr>
          <a:lstStyle/>
          <a:p>
            <a:r>
              <a:rPr lang="en-US" sz="5400" dirty="0">
                <a:solidFill>
                  <a:schemeClr val="bg1"/>
                </a:solidFill>
              </a:rPr>
              <a:t>THANK YOU </a:t>
            </a:r>
          </a:p>
        </p:txBody>
      </p:sp>
      <p:sp>
        <p:nvSpPr>
          <p:cNvPr id="3" name="Subtitle 2">
            <a:extLst>
              <a:ext uri="{FF2B5EF4-FFF2-40B4-BE49-F238E27FC236}">
                <a16:creationId xmlns:a16="http://schemas.microsoft.com/office/drawing/2014/main" id="{BCD6F50F-10E3-A76C-0B5A-9EC714CF29DB}"/>
              </a:ext>
            </a:extLst>
          </p:cNvPr>
          <p:cNvSpPr>
            <a:spLocks noGrp="1"/>
          </p:cNvSpPr>
          <p:nvPr>
            <p:ph type="subTitle" idx="1"/>
          </p:nvPr>
        </p:nvSpPr>
        <p:spPr>
          <a:xfrm>
            <a:off x="3820817" y="4409960"/>
            <a:ext cx="4508641" cy="1116414"/>
          </a:xfrm>
        </p:spPr>
        <p:txBody>
          <a:bodyPr>
            <a:normAutofit/>
          </a:bodyPr>
          <a:lstStyle/>
          <a:p>
            <a:endParaRPr lang="en-US" sz="2000">
              <a:solidFill>
                <a:schemeClr val="bg1"/>
              </a:solidFill>
            </a:endParaRP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742969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66</TotalTime>
  <Words>1314</Words>
  <Application>Microsoft Office PowerPoint</Application>
  <PresentationFormat>Widescreen</PresentationFormat>
  <Paragraphs>133</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 </vt:lpstr>
      <vt:lpstr>LIMITATIONS </vt:lpstr>
      <vt:lpstr>PowerPoint Presentation</vt:lpstr>
      <vt:lpstr>Reasons for slow growth of AI-WASTE-SORTER </vt:lpstr>
      <vt:lpstr>PowerPoint Presentation</vt:lpstr>
      <vt:lpstr>PowerPoint Presentation</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Mohd subhan</dc:creator>
  <cp:keywords/>
  <dc:description>generated using python-pptx</dc:description>
  <cp:lastModifiedBy>Mohd subhan</cp:lastModifiedBy>
  <cp:revision>2</cp:revision>
  <dcterms:created xsi:type="dcterms:W3CDTF">2013-01-27T09:14:16Z</dcterms:created>
  <dcterms:modified xsi:type="dcterms:W3CDTF">2026-09-24T09:21:59Z</dcterms:modified>
  <cp:category/>
</cp:coreProperties>
</file>